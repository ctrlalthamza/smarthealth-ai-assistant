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image" Target="../media/image-9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image" Target="../media/image-10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image" Target="../media/image-11-7.png"/><Relationship Id="rId8" Type="http://schemas.openxmlformats.org/officeDocument/2006/relationships/image" Target="../media/image-11-8.png"/><Relationship Id="rId9" Type="http://schemas.openxmlformats.org/officeDocument/2006/relationships/image" Target="../media/image-11-9.png"/><Relationship Id="rId10" Type="http://schemas.openxmlformats.org/officeDocument/2006/relationships/image" Target="../media/image-11-10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1E4FD8"/>
          </a:solidFill>
          <a:ln/>
        </p:spPr>
      </p:sp>
      <p:sp>
        <p:nvSpPr>
          <p:cNvPr id="3" name="Shape 1"/>
          <p:cNvSpPr/>
          <p:nvPr/>
        </p:nvSpPr>
        <p:spPr>
          <a:xfrm>
            <a:off x="5303520" y="-1371600"/>
            <a:ext cx="5029200" cy="5029200"/>
          </a:xfrm>
          <a:prstGeom prst="ellipse">
            <a:avLst/>
          </a:prstGeom>
          <a:solidFill>
            <a:srgbClr val="112240"/>
          </a:solidFill>
          <a:ln w="12700">
            <a:solidFill>
              <a:srgbClr val="1E4FD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943600" y="-731520"/>
            <a:ext cx="3840480" cy="3840480"/>
          </a:xfrm>
          <a:prstGeom prst="ellipse">
            <a:avLst/>
          </a:prstGeom>
          <a:solidFill>
            <a:srgbClr val="1E4FD8">
              <a:alpha val="20000"/>
            </a:srgbClr>
          </a:solidFill>
          <a:ln w="6350">
            <a:solidFill>
              <a:srgbClr val="0EA5BE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384048"/>
            <a:ext cx="502920" cy="5029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384048" y="1005840"/>
            <a:ext cx="6858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SmartHealth AI Assistant</a:t>
            </a:r>
            <a:endParaRPr lang="en-US" sz="3800" dirty="0"/>
          </a:p>
        </p:txBody>
      </p:sp>
      <p:sp>
        <p:nvSpPr>
          <p:cNvPr id="7" name="Text 4"/>
          <p:cNvSpPr/>
          <p:nvPr/>
        </p:nvSpPr>
        <p:spPr>
          <a:xfrm>
            <a:off x="384048" y="1874520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0EA5B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Software Project Perspective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384048" y="2468880"/>
            <a:ext cx="4114800" cy="36576"/>
          </a:xfrm>
          <a:prstGeom prst="rect">
            <a:avLst/>
          </a:prstGeom>
          <a:solidFill>
            <a:srgbClr val="1E4FD8"/>
          </a:solidFill>
          <a:ln w="12700">
            <a:solidFill>
              <a:srgbClr val="1E4FD8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384048" y="2697480"/>
            <a:ext cx="5303520" cy="530352"/>
          </a:xfrm>
          <a:prstGeom prst="rect">
            <a:avLst/>
          </a:prstGeom>
          <a:solidFill>
            <a:srgbClr val="1A2D4A"/>
          </a:solidFill>
          <a:ln w="10160">
            <a:solidFill>
              <a:srgbClr val="1E4F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502920" y="2743200"/>
            <a:ext cx="20116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Saad Abrar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502920" y="2953512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EA5B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22I-1238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2606040" y="2825496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A8B8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PM &amp; Frontend Dev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384048" y="3355848"/>
            <a:ext cx="5303520" cy="530352"/>
          </a:xfrm>
          <a:prstGeom prst="rect">
            <a:avLst/>
          </a:prstGeom>
          <a:solidFill>
            <a:srgbClr val="1A2D4A"/>
          </a:solidFill>
          <a:ln w="10160">
            <a:solidFill>
              <a:srgbClr val="1E4F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502920" y="3401568"/>
            <a:ext cx="20116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Umair Nawaz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502920" y="3611880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EA5B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22I-0913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2606040" y="3483864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A8B8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Backend &amp; DevOps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384048" y="4014216"/>
            <a:ext cx="5303520" cy="530352"/>
          </a:xfrm>
          <a:prstGeom prst="rect">
            <a:avLst/>
          </a:prstGeom>
          <a:solidFill>
            <a:srgbClr val="1A2D4A"/>
          </a:solidFill>
          <a:ln w="10160">
            <a:solidFill>
              <a:srgbClr val="1E4F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8" name="Text 15"/>
          <p:cNvSpPr/>
          <p:nvPr/>
        </p:nvSpPr>
        <p:spPr>
          <a:xfrm>
            <a:off x="502920" y="4059936"/>
            <a:ext cx="20116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Hamza Khurram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502920" y="4270248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EA5B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21I-0735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2606040" y="414223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A8B8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AI/ML &amp; QA Lead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384048" y="4736592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A9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FAST NUCES Islamabad  |  Spring 2026  |  SPM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6583680" y="0"/>
            <a:ext cx="2560320" cy="5143500"/>
          </a:xfrm>
          <a:prstGeom prst="rect">
            <a:avLst/>
          </a:prstGeom>
          <a:solidFill>
            <a:srgbClr val="112240"/>
          </a:solidFill>
          <a:ln w="12700">
            <a:solidFill>
              <a:srgbClr val="112240"/>
            </a:solidFill>
            <a:prstDash val="solid"/>
          </a:ln>
        </p:spPr>
      </p:sp>
      <p:pic>
        <p:nvPicPr>
          <p:cNvPr id="23" name="Image 1" descr="preencoded.png">    </p:cNvPr>
          <p:cNvPicPr>
            <a:picLocks noChangeAspect="1"/>
          </p:cNvPicPr>
          <p:nvPr/>
        </p:nvPicPr>
        <p:blipFill>
          <a:blip r:embed="rId2">
            <a:alphaModFix amt="70000"/>
          </a:blip>
          <a:stretch>
            <a:fillRect/>
          </a:stretch>
        </p:blipFill>
        <p:spPr>
          <a:xfrm>
            <a:off x="6949440" y="457200"/>
            <a:ext cx="502920" cy="502920"/>
          </a:xfrm>
          <a:prstGeom prst="rect">
            <a:avLst/>
          </a:prstGeom>
        </p:spPr>
      </p:pic>
      <p:pic>
        <p:nvPicPr>
          <p:cNvPr id="24" name="Image 2" descr="preencoded.png">    </p:cNvPr>
          <p:cNvPicPr>
            <a:picLocks noChangeAspect="1"/>
          </p:cNvPicPr>
          <p:nvPr/>
        </p:nvPicPr>
        <p:blipFill>
          <a:blip r:embed="rId3">
            <a:alphaModFix amt="70000"/>
          </a:blip>
          <a:stretch>
            <a:fillRect/>
          </a:stretch>
        </p:blipFill>
        <p:spPr>
          <a:xfrm>
            <a:off x="7772400" y="1371600"/>
            <a:ext cx="502920" cy="502920"/>
          </a:xfrm>
          <a:prstGeom prst="rect">
            <a:avLst/>
          </a:prstGeom>
        </p:spPr>
      </p:pic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4">
            <a:alphaModFix amt="70000"/>
          </a:blip>
          <a:stretch>
            <a:fillRect/>
          </a:stretch>
        </p:blipFill>
        <p:spPr>
          <a:xfrm>
            <a:off x="6858000" y="2286000"/>
            <a:ext cx="502920" cy="502920"/>
          </a:xfrm>
          <a:prstGeom prst="rect">
            <a:avLst/>
          </a:prstGeom>
        </p:spPr>
      </p:pic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>
            <a:alphaModFix amt="70000"/>
          </a:blip>
          <a:stretch>
            <a:fillRect/>
          </a:stretch>
        </p:blipFill>
        <p:spPr>
          <a:xfrm>
            <a:off x="7863840" y="3108960"/>
            <a:ext cx="502920" cy="502920"/>
          </a:xfrm>
          <a:prstGeom prst="rect">
            <a:avLst/>
          </a:prstGeom>
        </p:spPr>
      </p:pic>
      <p:pic>
        <p:nvPicPr>
          <p:cNvPr id="27" name="Image 5" descr="preencoded.png">    </p:cNvPr>
          <p:cNvPicPr>
            <a:picLocks noChangeAspect="1"/>
          </p:cNvPicPr>
          <p:nvPr/>
        </p:nvPicPr>
        <p:blipFill>
          <a:blip r:embed="rId6">
            <a:alphaModFix amt="70000"/>
          </a:blip>
          <a:stretch>
            <a:fillRect/>
          </a:stretch>
        </p:blipFill>
        <p:spPr>
          <a:xfrm>
            <a:off x="7040880" y="3931920"/>
            <a:ext cx="502920" cy="50292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Project Overview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56692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0EA5B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Problem Statement &amp; Proposed Solution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20040" y="1097280"/>
            <a:ext cx="3931920" cy="3566160"/>
          </a:xfrm>
          <a:prstGeom prst="rect">
            <a:avLst/>
          </a:prstGeom>
          <a:solidFill>
            <a:srgbClr val="FFFFFF"/>
          </a:solidFill>
          <a:ln w="10160">
            <a:solidFill>
              <a:srgbClr val="D1DCE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02920" y="123444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F44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PROBLEM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02920" y="1600200"/>
            <a:ext cx="361188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D374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Patients struggle to articulate symptoms accurately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D374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Appointment scheduling is slow and error-prone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D374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Specialists receive inappropriate referrals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D374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Overcrowded emergency departments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D374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Fragmented and inaccessible health records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0" y="1097280"/>
            <a:ext cx="4251960" cy="3566160"/>
          </a:xfrm>
          <a:prstGeom prst="rect">
            <a:avLst/>
          </a:prstGeom>
          <a:solidFill>
            <a:srgbClr val="0A1628"/>
          </a:solidFill>
          <a:ln w="12700">
            <a:solidFill>
              <a:srgbClr val="1E4F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736592" y="123444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EA5B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OUR SOLUTION</a:t>
            </a:r>
            <a:endParaRPr lang="en-US" sz="1100" dirty="0"/>
          </a:p>
        </p:txBody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36592" y="1700784"/>
            <a:ext cx="256032" cy="256032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5074920" y="1664208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D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AI-powered symptom analysis with NLP</a:t>
            </a:r>
            <a:endParaRPr lang="en-US" sz="1200" dirty="0"/>
          </a:p>
        </p:txBody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36592" y="2286000"/>
            <a:ext cx="256032" cy="25603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074920" y="2249424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D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Disease prediction engine (85%+ accuracy)</a:t>
            </a:r>
            <a:endParaRPr lang="en-US" sz="1200" dirty="0"/>
          </a:p>
        </p:txBody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36592" y="2871216"/>
            <a:ext cx="256032" cy="256032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5074920" y="2834640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D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Intelligent specialist matching &amp; routing</a:t>
            </a:r>
            <a:endParaRPr lang="en-US" sz="120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36592" y="3456432"/>
            <a:ext cx="256032" cy="256032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5074920" y="3419856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D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Real-time appointment management system</a:t>
            </a:r>
            <a:endParaRPr lang="en-US" sz="1200" dirty="0"/>
          </a:p>
        </p:txBody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36592" y="4041648"/>
            <a:ext cx="256032" cy="256032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5074920" y="4005072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D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Personalised health data dashboard</a:t>
            </a:r>
            <a:endParaRPr lang="en-US" sz="1200" dirty="0"/>
          </a:p>
        </p:txBody>
      </p:sp>
      <p:sp>
        <p:nvSpPr>
          <p:cNvPr id="20" name="Shape 13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21" name="Text 14"/>
          <p:cNvSpPr/>
          <p:nvPr/>
        </p:nvSpPr>
        <p:spPr>
          <a:xfrm>
            <a:off x="274320" y="4818888"/>
            <a:ext cx="8595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8B8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Full-stack Web App  •  React + Node.js + Python FastAPI  •  PostgreSQL + Redis  •  Docker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E4FD8"/>
          </a:solidFill>
          <a:ln w="12700">
            <a:solidFill>
              <a:srgbClr val="1E4F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SPM Methodology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59436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0EA5B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Agile Scrum  ·  8 Sprints  ·  16 Weeks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74320" y="1143000"/>
            <a:ext cx="1993392" cy="2377440"/>
          </a:xfrm>
          <a:prstGeom prst="rect">
            <a:avLst/>
          </a:prstGeom>
          <a:solidFill>
            <a:srgbClr val="1A2D4A"/>
          </a:solidFill>
          <a:ln w="19050">
            <a:solidFill>
              <a:srgbClr val="1E4F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143000"/>
            <a:ext cx="1993392" cy="347472"/>
          </a:xfrm>
          <a:prstGeom prst="rect">
            <a:avLst/>
          </a:prstGeom>
          <a:solidFill>
            <a:srgbClr val="1E4FD8"/>
          </a:solidFill>
          <a:ln w="12700">
            <a:solidFill>
              <a:srgbClr val="1E4FD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47472" y="1170432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Sprint Planning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65760" y="1554480"/>
            <a:ext cx="18288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A8B8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2-week sprints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A8B8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Story point estimates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A8B8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MoSCoW prioritization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2468880" y="1143000"/>
            <a:ext cx="1993392" cy="2377440"/>
          </a:xfrm>
          <a:prstGeom prst="rect">
            <a:avLst/>
          </a:prstGeom>
          <a:solidFill>
            <a:srgbClr val="1A2D4A"/>
          </a:solidFill>
          <a:ln w="19050">
            <a:solidFill>
              <a:srgbClr val="0891B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468880" y="1143000"/>
            <a:ext cx="1993392" cy="34747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542032" y="1170432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Daily Standups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560320" y="1554480"/>
            <a:ext cx="18288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A8B8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15 min every morning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A8B8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 questions: Did/Will/Blockers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A8B8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Jira board review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663440" y="1143000"/>
            <a:ext cx="1993392" cy="2377440"/>
          </a:xfrm>
          <a:prstGeom prst="rect">
            <a:avLst/>
          </a:prstGeom>
          <a:solidFill>
            <a:srgbClr val="1A2D4A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663440" y="1143000"/>
            <a:ext cx="1993392" cy="34747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36592" y="1170432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Sprint Review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754880" y="1554480"/>
            <a:ext cx="18288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A8B8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Working demo each sprint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A8B8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Stakeholder feedback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A8B8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Increment validation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6858000" y="1143000"/>
            <a:ext cx="1993392" cy="2377440"/>
          </a:xfrm>
          <a:prstGeom prst="rect">
            <a:avLst/>
          </a:prstGeom>
          <a:solidFill>
            <a:srgbClr val="1A2D4A"/>
          </a:solidFill>
          <a:ln w="19050">
            <a:solidFill>
              <a:srgbClr val="05966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858000" y="1143000"/>
            <a:ext cx="1993392" cy="347472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931152" y="1170432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Retrospective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949440" y="1554480"/>
            <a:ext cx="18288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A8B8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went well?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A8B8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to improve?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A8B8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Action items tracked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274320" y="3703320"/>
            <a:ext cx="1993392" cy="1097280"/>
          </a:xfrm>
          <a:prstGeom prst="rect">
            <a:avLst/>
          </a:prstGeom>
          <a:solidFill>
            <a:srgbClr val="112240"/>
          </a:solidFill>
          <a:ln w="10160">
            <a:solidFill>
              <a:srgbClr val="2D4A7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65760" y="37673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EA5B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Product Backlog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365760" y="4041648"/>
            <a:ext cx="1828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8B8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87 User Stories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A8B8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MoSCoW prioritized in Jira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2468880" y="3703320"/>
            <a:ext cx="1993392" cy="1097280"/>
          </a:xfrm>
          <a:prstGeom prst="rect">
            <a:avLst/>
          </a:prstGeom>
          <a:solidFill>
            <a:srgbClr val="112240"/>
          </a:solidFill>
          <a:ln w="10160">
            <a:solidFill>
              <a:srgbClr val="2D4A7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560320" y="37673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EA5B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Sprint Backlog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2560320" y="4041648"/>
            <a:ext cx="1828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8B8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~32 story points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A8B8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per sprint (avg velocity)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663440" y="3703320"/>
            <a:ext cx="1993392" cy="1097280"/>
          </a:xfrm>
          <a:prstGeom prst="rect">
            <a:avLst/>
          </a:prstGeom>
          <a:solidFill>
            <a:srgbClr val="112240"/>
          </a:solidFill>
          <a:ln w="10160">
            <a:solidFill>
              <a:srgbClr val="2D4A7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754880" y="37673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EA5B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DoD Enforced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754880" y="4041648"/>
            <a:ext cx="1828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8B8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Code review + CI pass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A8B8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+ 80% test coverage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6858000" y="3703320"/>
            <a:ext cx="1993392" cy="1097280"/>
          </a:xfrm>
          <a:prstGeom prst="rect">
            <a:avLst/>
          </a:prstGeom>
          <a:solidFill>
            <a:srgbClr val="112240"/>
          </a:solidFill>
          <a:ln w="10160">
            <a:solidFill>
              <a:srgbClr val="2D4A7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949440" y="37673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EA5B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8 Sprints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6949440" y="4041648"/>
            <a:ext cx="1828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8B8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All goals met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A8B8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6/6 quality metrics passed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12240"/>
          </a:solidFill>
          <a:ln w="12700">
            <a:solidFill>
              <a:srgbClr val="11224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Project Planning — Timeline &amp; WBS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65760" y="59436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0EA5B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16-Week Gantt  ·  Work Breakdown Structure  ·  Critical Path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74320" y="1097280"/>
            <a:ext cx="914400" cy="475488"/>
          </a:xfrm>
          <a:prstGeom prst="rect">
            <a:avLst/>
          </a:prstGeom>
          <a:solidFill>
            <a:srgbClr val="5B21B6"/>
          </a:solidFill>
          <a:ln w="12700">
            <a:solidFill>
              <a:srgbClr val="5B21B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112471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Initiation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274320" y="1353312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DBEA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Wk 1-2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1243584" y="1097280"/>
            <a:ext cx="914400" cy="475488"/>
          </a:xfrm>
          <a:prstGeom prst="rect">
            <a:avLst/>
          </a:prstGeom>
          <a:solidFill>
            <a:srgbClr val="1E4FD8"/>
          </a:solidFill>
          <a:ln w="12700">
            <a:solidFill>
              <a:srgbClr val="1E4FD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243584" y="112471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Planning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243584" y="1353312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DBEA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Wk 3-4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2212848" y="1097280"/>
            <a:ext cx="3657600" cy="47548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212848" y="112471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Development I-IV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2212848" y="1353312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DBEA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Wk 5-12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5925312" y="1097280"/>
            <a:ext cx="914400" cy="47548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925312" y="112471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Testing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5925312" y="1353312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DBEA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Wk 13-14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6894576" y="1097280"/>
            <a:ext cx="914400" cy="47548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894576" y="112471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Deployment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6894576" y="1353312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DBEA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Wk 15-16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274320" y="1737360"/>
            <a:ext cx="1600200" cy="347472"/>
          </a:xfrm>
          <a:prstGeom prst="rect">
            <a:avLst/>
          </a:prstGeom>
          <a:solidFill>
            <a:srgbClr val="5B21B6"/>
          </a:solidFill>
          <a:ln w="12700">
            <a:solidFill>
              <a:srgbClr val="5B21B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20040" y="1764792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Auth &amp; User Mgmt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274320" y="2139696"/>
            <a:ext cx="160020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D1DCEF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320040" y="2157984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2D374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Registration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274320" y="2743200"/>
            <a:ext cx="160020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D1DCEF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320040" y="2761488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2D374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JWT Auth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274320" y="3346704"/>
            <a:ext cx="160020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D1DCEF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320040" y="3364992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2D374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Role-based Access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274320" y="3950208"/>
            <a:ext cx="160020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D1DCEF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320040" y="3968496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2D374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Password Recovery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2011680" y="1737360"/>
            <a:ext cx="1600200" cy="347472"/>
          </a:xfrm>
          <a:prstGeom prst="rect">
            <a:avLst/>
          </a:prstGeom>
          <a:solidFill>
            <a:srgbClr val="1E4FD8"/>
          </a:solidFill>
          <a:ln w="12700">
            <a:solidFill>
              <a:srgbClr val="1E4FD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057400" y="1764792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AI/ML Services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2011680" y="2139696"/>
            <a:ext cx="160020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D1DCEF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2057400" y="2157984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2D374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NLP Pipeline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2011680" y="2743200"/>
            <a:ext cx="160020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D1DCEF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2057400" y="2761488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2D374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Disease Prediction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2011680" y="3346704"/>
            <a:ext cx="160020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D1DCEF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2057400" y="3364992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2D374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Specialist Matching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2011680" y="3950208"/>
            <a:ext cx="160020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D1DCEF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39" name="Text 37"/>
          <p:cNvSpPr/>
          <p:nvPr/>
        </p:nvSpPr>
        <p:spPr>
          <a:xfrm>
            <a:off x="2057400" y="3968496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2D374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Model Eval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3749040" y="1737360"/>
            <a:ext cx="1600200" cy="34747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794760" y="1764792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Appointments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3749040" y="2139696"/>
            <a:ext cx="160020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D1DCEF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43" name="Text 41"/>
          <p:cNvSpPr/>
          <p:nvPr/>
        </p:nvSpPr>
        <p:spPr>
          <a:xfrm>
            <a:off x="3794760" y="2157984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2D374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Availability Check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3749040" y="2743200"/>
            <a:ext cx="160020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D1DCEF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45" name="Text 43"/>
          <p:cNvSpPr/>
          <p:nvPr/>
        </p:nvSpPr>
        <p:spPr>
          <a:xfrm>
            <a:off x="3794760" y="2761488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2D374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Calendar Booking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3749040" y="3346704"/>
            <a:ext cx="160020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D1DCEF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47" name="Text 45"/>
          <p:cNvSpPr/>
          <p:nvPr/>
        </p:nvSpPr>
        <p:spPr>
          <a:xfrm>
            <a:off x="3794760" y="3364992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2D374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Notifications</a:t>
            </a:r>
            <a:endParaRPr lang="en-US" sz="950" dirty="0"/>
          </a:p>
        </p:txBody>
      </p:sp>
      <p:sp>
        <p:nvSpPr>
          <p:cNvPr id="48" name="Shape 46"/>
          <p:cNvSpPr/>
          <p:nvPr/>
        </p:nvSpPr>
        <p:spPr>
          <a:xfrm>
            <a:off x="3749040" y="3950208"/>
            <a:ext cx="160020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D1DCEF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49" name="Text 47"/>
          <p:cNvSpPr/>
          <p:nvPr/>
        </p:nvSpPr>
        <p:spPr>
          <a:xfrm>
            <a:off x="3794760" y="3968496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2D374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History</a:t>
            </a:r>
            <a:endParaRPr lang="en-US" sz="950" dirty="0"/>
          </a:p>
        </p:txBody>
      </p:sp>
      <p:sp>
        <p:nvSpPr>
          <p:cNvPr id="50" name="Shape 48"/>
          <p:cNvSpPr/>
          <p:nvPr/>
        </p:nvSpPr>
        <p:spPr>
          <a:xfrm>
            <a:off x="5486400" y="1737360"/>
            <a:ext cx="1600200" cy="34747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5532120" y="1764792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Health Dashboard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5486400" y="2139696"/>
            <a:ext cx="160020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D1DCEF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53" name="Text 51"/>
          <p:cNvSpPr/>
          <p:nvPr/>
        </p:nvSpPr>
        <p:spPr>
          <a:xfrm>
            <a:off x="5532120" y="2157984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2D374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Health Timeline</a:t>
            </a:r>
            <a:endParaRPr lang="en-US" sz="950" dirty="0"/>
          </a:p>
        </p:txBody>
      </p:sp>
      <p:sp>
        <p:nvSpPr>
          <p:cNvPr id="54" name="Shape 52"/>
          <p:cNvSpPr/>
          <p:nvPr/>
        </p:nvSpPr>
        <p:spPr>
          <a:xfrm>
            <a:off x="5486400" y="2743200"/>
            <a:ext cx="160020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D1DCEF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55" name="Text 53"/>
          <p:cNvSpPr/>
          <p:nvPr/>
        </p:nvSpPr>
        <p:spPr>
          <a:xfrm>
            <a:off x="5532120" y="2761488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2D374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Symptom Trends</a:t>
            </a:r>
            <a:endParaRPr lang="en-US" sz="950" dirty="0"/>
          </a:p>
        </p:txBody>
      </p:sp>
      <p:sp>
        <p:nvSpPr>
          <p:cNvPr id="56" name="Shape 54"/>
          <p:cNvSpPr/>
          <p:nvPr/>
        </p:nvSpPr>
        <p:spPr>
          <a:xfrm>
            <a:off x="5486400" y="3346704"/>
            <a:ext cx="160020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D1DCEF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57" name="Text 55"/>
          <p:cNvSpPr/>
          <p:nvPr/>
        </p:nvSpPr>
        <p:spPr>
          <a:xfrm>
            <a:off x="5532120" y="3364992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2D374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PDF Export</a:t>
            </a:r>
            <a:endParaRPr lang="en-US" sz="950" dirty="0"/>
          </a:p>
        </p:txBody>
      </p:sp>
      <p:sp>
        <p:nvSpPr>
          <p:cNvPr id="58" name="Shape 56"/>
          <p:cNvSpPr/>
          <p:nvPr/>
        </p:nvSpPr>
        <p:spPr>
          <a:xfrm>
            <a:off x="5486400" y="3950208"/>
            <a:ext cx="160020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D1DCEF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59" name="Text 57"/>
          <p:cNvSpPr/>
          <p:nvPr/>
        </p:nvSpPr>
        <p:spPr>
          <a:xfrm>
            <a:off x="5532120" y="3968496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2D374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Insights</a:t>
            </a:r>
            <a:endParaRPr lang="en-US" sz="950" dirty="0"/>
          </a:p>
        </p:txBody>
      </p:sp>
      <p:sp>
        <p:nvSpPr>
          <p:cNvPr id="60" name="Shape 58"/>
          <p:cNvSpPr/>
          <p:nvPr/>
        </p:nvSpPr>
        <p:spPr>
          <a:xfrm>
            <a:off x="7223760" y="1737360"/>
            <a:ext cx="1600200" cy="347472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7269480" y="1764792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DevOps &amp; QA</a:t>
            </a:r>
            <a:endParaRPr lang="en-US" sz="900" dirty="0"/>
          </a:p>
        </p:txBody>
      </p:sp>
      <p:sp>
        <p:nvSpPr>
          <p:cNvPr id="62" name="Shape 60"/>
          <p:cNvSpPr/>
          <p:nvPr/>
        </p:nvSpPr>
        <p:spPr>
          <a:xfrm>
            <a:off x="7223760" y="2139696"/>
            <a:ext cx="160020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D1DCEF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63" name="Text 61"/>
          <p:cNvSpPr/>
          <p:nvPr/>
        </p:nvSpPr>
        <p:spPr>
          <a:xfrm>
            <a:off x="7269480" y="2157984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2D374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CI/CD Pipeline</a:t>
            </a:r>
            <a:endParaRPr lang="en-US" sz="950" dirty="0"/>
          </a:p>
        </p:txBody>
      </p:sp>
      <p:sp>
        <p:nvSpPr>
          <p:cNvPr id="64" name="Shape 62"/>
          <p:cNvSpPr/>
          <p:nvPr/>
        </p:nvSpPr>
        <p:spPr>
          <a:xfrm>
            <a:off x="7223760" y="2743200"/>
            <a:ext cx="160020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D1DCEF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65" name="Text 63"/>
          <p:cNvSpPr/>
          <p:nvPr/>
        </p:nvSpPr>
        <p:spPr>
          <a:xfrm>
            <a:off x="7269480" y="2761488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2D374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Docker Setup</a:t>
            </a:r>
            <a:endParaRPr lang="en-US" sz="950" dirty="0"/>
          </a:p>
        </p:txBody>
      </p:sp>
      <p:sp>
        <p:nvSpPr>
          <p:cNvPr id="66" name="Shape 64"/>
          <p:cNvSpPr/>
          <p:nvPr/>
        </p:nvSpPr>
        <p:spPr>
          <a:xfrm>
            <a:off x="7223760" y="3346704"/>
            <a:ext cx="160020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D1DCEF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67" name="Text 65"/>
          <p:cNvSpPr/>
          <p:nvPr/>
        </p:nvSpPr>
        <p:spPr>
          <a:xfrm>
            <a:off x="7269480" y="3364992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2D374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Testing Suite</a:t>
            </a:r>
            <a:endParaRPr lang="en-US" sz="950" dirty="0"/>
          </a:p>
        </p:txBody>
      </p:sp>
      <p:sp>
        <p:nvSpPr>
          <p:cNvPr id="68" name="Shape 66"/>
          <p:cNvSpPr/>
          <p:nvPr/>
        </p:nvSpPr>
        <p:spPr>
          <a:xfrm>
            <a:off x="7223760" y="3950208"/>
            <a:ext cx="160020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D1DCEF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69" name="Text 67"/>
          <p:cNvSpPr/>
          <p:nvPr/>
        </p:nvSpPr>
        <p:spPr>
          <a:xfrm>
            <a:off x="7269480" y="3968496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2D374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Deployment</a:t>
            </a:r>
            <a:endParaRPr lang="en-US" sz="950" dirty="0"/>
          </a:p>
        </p:txBody>
      </p:sp>
      <p:sp>
        <p:nvSpPr>
          <p:cNvPr id="70" name="Shape 68"/>
          <p:cNvSpPr/>
          <p:nvPr/>
        </p:nvSpPr>
        <p:spPr>
          <a:xfrm>
            <a:off x="0" y="4828032"/>
            <a:ext cx="9144000" cy="320040"/>
          </a:xfrm>
          <a:prstGeom prst="rect">
            <a:avLst/>
          </a:prstGeom>
          <a:solidFill>
            <a:srgbClr val="112240"/>
          </a:solidFill>
          <a:ln w="12700">
            <a:solidFill>
              <a:srgbClr val="112240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274320" y="4846320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0EA5B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Critical Path: Requirements → Architecture → Backend API → AI Integration → E2E Testing → Deployment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Team Structure &amp; Roles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59436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A7F3D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RACI Framework  ·  Scrum Roles  ·  Tuckman Team Development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74320" y="1051560"/>
            <a:ext cx="2651760" cy="3794760"/>
          </a:xfrm>
          <a:prstGeom prst="rect">
            <a:avLst/>
          </a:prstGeom>
          <a:solidFill>
            <a:srgbClr val="1A2D4A"/>
          </a:solidFill>
          <a:ln w="19050">
            <a:solidFill>
              <a:srgbClr val="1E4F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051560"/>
            <a:ext cx="2651760" cy="502920"/>
          </a:xfrm>
          <a:prstGeom prst="rect">
            <a:avLst/>
          </a:prstGeom>
          <a:solidFill>
            <a:srgbClr val="1E4FD8"/>
          </a:solidFill>
          <a:ln w="12700">
            <a:solidFill>
              <a:srgbClr val="1E4FD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078992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Saad Abrar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65760" y="1335024"/>
            <a:ext cx="2468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BEA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22I-1238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384048" y="1645920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0EA5B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Product Owner + Scrum Master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384048" y="1965960"/>
            <a:ext cx="2423160" cy="2697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A8B8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Sprint planning &amp; backlog mgmt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A8B8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Jira setup &amp; workflow tracking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A8B8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React 18 frontend development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A8B8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Stakeholder communication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A8B8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Sprint reviews &amp; retrospectives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200400" y="1051560"/>
            <a:ext cx="2651760" cy="3794760"/>
          </a:xfrm>
          <a:prstGeom prst="rect">
            <a:avLst/>
          </a:prstGeom>
          <a:solidFill>
            <a:srgbClr val="1A2D4A"/>
          </a:solidFill>
          <a:ln w="19050">
            <a:solidFill>
              <a:srgbClr val="0891B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00400" y="1051560"/>
            <a:ext cx="2651760" cy="50292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91840" y="1078992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Umair Nawaz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291840" y="1335024"/>
            <a:ext cx="2468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BEA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22I-0913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3310128" y="1645920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0EA5B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Development Team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3310128" y="1965960"/>
            <a:ext cx="2423160" cy="2697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A8B8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Express.js REST API design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A8B8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PostgreSQL &amp; Redis database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A8B8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Docker containerisation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A8B8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GitHub Actions CI/CD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A8B8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Deployment &amp; monitoring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126480" y="1051560"/>
            <a:ext cx="2651760" cy="3794760"/>
          </a:xfrm>
          <a:prstGeom prst="rect">
            <a:avLst/>
          </a:prstGeom>
          <a:solidFill>
            <a:srgbClr val="1A2D4A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126480" y="1051560"/>
            <a:ext cx="2651760" cy="5029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217920" y="1078992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Hamza Khurram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217920" y="1335024"/>
            <a:ext cx="2468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BEA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21I-0735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6236208" y="1645920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0EA5B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Development Team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6236208" y="1965960"/>
            <a:ext cx="2423160" cy="2697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A8B8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spaCy / BERT NLP pipeline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A8B8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Random Forest + Neural Net models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A8B8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Python FastAPI microservices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A8B8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Test strategy &amp; QA leadership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A8B8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87% model accuracy achieved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274320" y="4864608"/>
            <a:ext cx="8595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B7A9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Team Evolution: Forming (Wk 1-2) → Storming (Wk 3-4) → Norming (Wk 5-8) → Performing (Wk 9-16)  |  Velocity grew from 28 → 36 SP/sprint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4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Tools: Jira + GitHub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59436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0EA5B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Project Tracking  ·  Version Control  ·  CI/CD Automation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74320" y="1051560"/>
            <a:ext cx="4114800" cy="3840480"/>
          </a:xfrm>
          <a:prstGeom prst="rect">
            <a:avLst/>
          </a:prstGeom>
          <a:solidFill>
            <a:srgbClr val="FFFFFF"/>
          </a:solidFill>
          <a:ln w="10160">
            <a:solidFill>
              <a:srgbClr val="D1DCE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051560"/>
            <a:ext cx="4114800" cy="384048"/>
          </a:xfrm>
          <a:prstGeom prst="rect">
            <a:avLst/>
          </a:prstGeom>
          <a:solidFill>
            <a:srgbClr val="0052CC"/>
          </a:solidFill>
          <a:ln w="12700">
            <a:solidFill>
              <a:srgbClr val="0052C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088136"/>
            <a:ext cx="36576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JIRA — Project Intelligence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1517904"/>
            <a:ext cx="36576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2D374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87 user stories across 5 epics (Auth, AI/ML, Appointments, Dashboard, DevOps)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2D374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MoSCoW prioritization: Must/Should/Could/Won't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2D374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Kanban board: To Do → In Progress → In Review → Done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2D374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Sprint burndown charts — velocity tracked across 8 sprints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2D374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Bug tracking with severity levels (Critical / Major / Minor)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2D374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Tickets linked to GitHub PRs via ticket-ID naming convention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2D374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Velocity stabilised at ~32 story points per sprint by Sprint 4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754880" y="1051560"/>
            <a:ext cx="4114800" cy="3840480"/>
          </a:xfrm>
          <a:prstGeom prst="rect">
            <a:avLst/>
          </a:prstGeom>
          <a:solidFill>
            <a:srgbClr val="FFFFFF"/>
          </a:solidFill>
          <a:ln w="10160">
            <a:solidFill>
              <a:srgbClr val="D1DCE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54880" y="1051560"/>
            <a:ext cx="4114800" cy="384048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92040" y="1088136"/>
            <a:ext cx="256032" cy="256032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5212080" y="1088136"/>
            <a:ext cx="34747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GITHUB — Code &amp; Quality Gate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4919472" y="1517904"/>
            <a:ext cx="3822192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2D374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Git Flow: main → develop → feature/SH-[ID]-name branches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2D374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Branch protection: no direct push to main—PRs required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2D374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Mandatory peer review (1 approval min) before merge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2D374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GitHub Actions CI: ESLint + Jest + Mocha + Pytest on every PR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2D374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Docker build validation in pipeline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2D374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Auto-deploy to staging on develop merge; production on main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2D374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Commit messages reference Jira ticket IDs for full traceability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7F1D1D"/>
          </a:solidFill>
          <a:ln w="12700">
            <a:solidFill>
              <a:srgbClr val="7F1D1D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" y="201168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14400" y="109728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Risk Management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914400" y="603504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CA5A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Risk Register  ·  Risk Matrix (P×I)  ·  4 Response Strategies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228600" y="1024128"/>
            <a:ext cx="8686800" cy="365760"/>
          </a:xfrm>
          <a:prstGeom prst="rect">
            <a:avLst/>
          </a:prstGeom>
          <a:solidFill>
            <a:srgbClr val="7F1D1D"/>
          </a:solidFill>
          <a:ln w="12700">
            <a:solidFill>
              <a:srgbClr val="7F1D1D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274320" y="1051560"/>
            <a:ext cx="25603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Risk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2880360" y="1051560"/>
            <a:ext cx="3657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3291840" y="1051560"/>
            <a:ext cx="3657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3703320" y="1051560"/>
            <a:ext cx="4572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Score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4206240" y="1051560"/>
            <a:ext cx="8229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Impact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5074920" y="1051560"/>
            <a:ext cx="9144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Strategy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6080760" y="1051560"/>
            <a:ext cx="28346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Mitigation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228600" y="1435608"/>
            <a:ext cx="8686800" cy="530352"/>
          </a:xfrm>
          <a:prstGeom prst="rect">
            <a:avLst/>
          </a:prstGeom>
          <a:solidFill>
            <a:srgbClr val="1A2D4A"/>
          </a:solidFill>
          <a:ln w="3810">
            <a:solidFill>
              <a:srgbClr val="2D4A7A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20040" y="1527048"/>
            <a:ext cx="2514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D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AI Model Accuracy &lt; 85%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2907792" y="1527048"/>
            <a:ext cx="320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8B8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3310128" y="1527048"/>
            <a:ext cx="320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8B8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3703320" y="1527048"/>
            <a:ext cx="411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F44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15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4160520" y="1527048"/>
            <a:ext cx="868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F44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HIGH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5074920" y="1527048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EA5B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Mitigate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6053328" y="1481328"/>
            <a:ext cx="2788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B8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Ensemble models + rule-based fallback</a:t>
            </a:r>
            <a:endParaRPr lang="en-US" sz="950" dirty="0"/>
          </a:p>
        </p:txBody>
      </p:sp>
      <p:sp>
        <p:nvSpPr>
          <p:cNvPr id="22" name="Shape 19"/>
          <p:cNvSpPr/>
          <p:nvPr/>
        </p:nvSpPr>
        <p:spPr>
          <a:xfrm>
            <a:off x="228600" y="2020824"/>
            <a:ext cx="8686800" cy="530352"/>
          </a:xfrm>
          <a:prstGeom prst="rect">
            <a:avLst/>
          </a:prstGeom>
          <a:solidFill>
            <a:srgbClr val="112240"/>
          </a:solidFill>
          <a:ln w="3810">
            <a:solidFill>
              <a:srgbClr val="2D4A7A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320040" y="2112264"/>
            <a:ext cx="2514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D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Security Vulnerabilities</a:t>
            </a:r>
            <a:endParaRPr lang="en-US" sz="1000" dirty="0"/>
          </a:p>
        </p:txBody>
      </p:sp>
      <p:sp>
        <p:nvSpPr>
          <p:cNvPr id="24" name="Text 21"/>
          <p:cNvSpPr/>
          <p:nvPr/>
        </p:nvSpPr>
        <p:spPr>
          <a:xfrm>
            <a:off x="2907792" y="2112264"/>
            <a:ext cx="320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8B8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000" dirty="0"/>
          </a:p>
        </p:txBody>
      </p:sp>
      <p:sp>
        <p:nvSpPr>
          <p:cNvPr id="25" name="Text 22"/>
          <p:cNvSpPr/>
          <p:nvPr/>
        </p:nvSpPr>
        <p:spPr>
          <a:xfrm>
            <a:off x="3310128" y="2112264"/>
            <a:ext cx="320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8B8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1000" dirty="0"/>
          </a:p>
        </p:txBody>
      </p:sp>
      <p:sp>
        <p:nvSpPr>
          <p:cNvPr id="26" name="Text 23"/>
          <p:cNvSpPr/>
          <p:nvPr/>
        </p:nvSpPr>
        <p:spPr>
          <a:xfrm>
            <a:off x="3703320" y="2112264"/>
            <a:ext cx="411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20</a:t>
            </a:r>
            <a:endParaRPr lang="en-US" sz="1100" dirty="0"/>
          </a:p>
        </p:txBody>
      </p:sp>
      <p:sp>
        <p:nvSpPr>
          <p:cNvPr id="27" name="Text 24"/>
          <p:cNvSpPr/>
          <p:nvPr/>
        </p:nvSpPr>
        <p:spPr>
          <a:xfrm>
            <a:off x="4160520" y="2112264"/>
            <a:ext cx="868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DC26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CRITICAL</a:t>
            </a:r>
            <a:endParaRPr lang="en-US" sz="900" dirty="0"/>
          </a:p>
        </p:txBody>
      </p:sp>
      <p:sp>
        <p:nvSpPr>
          <p:cNvPr id="28" name="Text 25"/>
          <p:cNvSpPr/>
          <p:nvPr/>
        </p:nvSpPr>
        <p:spPr>
          <a:xfrm>
            <a:off x="5074920" y="2112264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EA5B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Mitigate</a:t>
            </a:r>
            <a:endParaRPr lang="en-US" sz="1000" dirty="0"/>
          </a:p>
        </p:txBody>
      </p:sp>
      <p:sp>
        <p:nvSpPr>
          <p:cNvPr id="29" name="Text 26"/>
          <p:cNvSpPr/>
          <p:nvPr/>
        </p:nvSpPr>
        <p:spPr>
          <a:xfrm>
            <a:off x="6053328" y="2066544"/>
            <a:ext cx="2788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B8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OWASP audits + Snyk + encryption</a:t>
            </a:r>
            <a:endParaRPr lang="en-US" sz="950" dirty="0"/>
          </a:p>
        </p:txBody>
      </p:sp>
      <p:sp>
        <p:nvSpPr>
          <p:cNvPr id="30" name="Shape 27"/>
          <p:cNvSpPr/>
          <p:nvPr/>
        </p:nvSpPr>
        <p:spPr>
          <a:xfrm>
            <a:off x="228600" y="2606040"/>
            <a:ext cx="8686800" cy="530352"/>
          </a:xfrm>
          <a:prstGeom prst="rect">
            <a:avLst/>
          </a:prstGeom>
          <a:solidFill>
            <a:srgbClr val="1A2D4A"/>
          </a:solidFill>
          <a:ln w="3810">
            <a:solidFill>
              <a:srgbClr val="2D4A7A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320040" y="2697480"/>
            <a:ext cx="2514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D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Scope Creep</a:t>
            </a:r>
            <a:endParaRPr lang="en-US" sz="1000" dirty="0"/>
          </a:p>
        </p:txBody>
      </p:sp>
      <p:sp>
        <p:nvSpPr>
          <p:cNvPr id="32" name="Text 29"/>
          <p:cNvSpPr/>
          <p:nvPr/>
        </p:nvSpPr>
        <p:spPr>
          <a:xfrm>
            <a:off x="2907792" y="2697480"/>
            <a:ext cx="320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8B8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000" dirty="0"/>
          </a:p>
        </p:txBody>
      </p:sp>
      <p:sp>
        <p:nvSpPr>
          <p:cNvPr id="33" name="Text 30"/>
          <p:cNvSpPr/>
          <p:nvPr/>
        </p:nvSpPr>
        <p:spPr>
          <a:xfrm>
            <a:off x="3310128" y="2697480"/>
            <a:ext cx="320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8B8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000" dirty="0"/>
          </a:p>
        </p:txBody>
      </p:sp>
      <p:sp>
        <p:nvSpPr>
          <p:cNvPr id="34" name="Text 31"/>
          <p:cNvSpPr/>
          <p:nvPr/>
        </p:nvSpPr>
        <p:spPr>
          <a:xfrm>
            <a:off x="3703320" y="2697480"/>
            <a:ext cx="411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F44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16</a:t>
            </a:r>
            <a:endParaRPr lang="en-US" sz="1100" dirty="0"/>
          </a:p>
        </p:txBody>
      </p:sp>
      <p:sp>
        <p:nvSpPr>
          <p:cNvPr id="35" name="Text 32"/>
          <p:cNvSpPr/>
          <p:nvPr/>
        </p:nvSpPr>
        <p:spPr>
          <a:xfrm>
            <a:off x="4160520" y="2697480"/>
            <a:ext cx="868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F44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HIGH</a:t>
            </a:r>
            <a:endParaRPr lang="en-US" sz="900" dirty="0"/>
          </a:p>
        </p:txBody>
      </p:sp>
      <p:sp>
        <p:nvSpPr>
          <p:cNvPr id="36" name="Text 33"/>
          <p:cNvSpPr/>
          <p:nvPr/>
        </p:nvSpPr>
        <p:spPr>
          <a:xfrm>
            <a:off x="5074920" y="2697480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EA5B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Avoid</a:t>
            </a:r>
            <a:endParaRPr lang="en-US" sz="1000" dirty="0"/>
          </a:p>
        </p:txBody>
      </p:sp>
      <p:sp>
        <p:nvSpPr>
          <p:cNvPr id="37" name="Text 34"/>
          <p:cNvSpPr/>
          <p:nvPr/>
        </p:nvSpPr>
        <p:spPr>
          <a:xfrm>
            <a:off x="6053328" y="2651760"/>
            <a:ext cx="2788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B8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Change control + sprint freeze rule</a:t>
            </a:r>
            <a:endParaRPr lang="en-US" sz="950" dirty="0"/>
          </a:p>
        </p:txBody>
      </p:sp>
      <p:sp>
        <p:nvSpPr>
          <p:cNvPr id="38" name="Shape 35"/>
          <p:cNvSpPr/>
          <p:nvPr/>
        </p:nvSpPr>
        <p:spPr>
          <a:xfrm>
            <a:off x="228600" y="3191256"/>
            <a:ext cx="8686800" cy="530352"/>
          </a:xfrm>
          <a:prstGeom prst="rect">
            <a:avLst/>
          </a:prstGeom>
          <a:solidFill>
            <a:srgbClr val="112240"/>
          </a:solidFill>
          <a:ln w="3810">
            <a:solidFill>
              <a:srgbClr val="2D4A7A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320040" y="3282696"/>
            <a:ext cx="2514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D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Team Unavailability</a:t>
            </a:r>
            <a:endParaRPr lang="en-US" sz="1000" dirty="0"/>
          </a:p>
        </p:txBody>
      </p:sp>
      <p:sp>
        <p:nvSpPr>
          <p:cNvPr id="40" name="Text 37"/>
          <p:cNvSpPr/>
          <p:nvPr/>
        </p:nvSpPr>
        <p:spPr>
          <a:xfrm>
            <a:off x="2907792" y="3282696"/>
            <a:ext cx="320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8B8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000" dirty="0"/>
          </a:p>
        </p:txBody>
      </p:sp>
      <p:sp>
        <p:nvSpPr>
          <p:cNvPr id="41" name="Text 38"/>
          <p:cNvSpPr/>
          <p:nvPr/>
        </p:nvSpPr>
        <p:spPr>
          <a:xfrm>
            <a:off x="3310128" y="3282696"/>
            <a:ext cx="320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8B8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000" dirty="0"/>
          </a:p>
        </p:txBody>
      </p:sp>
      <p:sp>
        <p:nvSpPr>
          <p:cNvPr id="42" name="Text 39"/>
          <p:cNvSpPr/>
          <p:nvPr/>
        </p:nvSpPr>
        <p:spPr>
          <a:xfrm>
            <a:off x="3703320" y="3282696"/>
            <a:ext cx="411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</a:t>
            </a:r>
            <a:endParaRPr lang="en-US" sz="1100" dirty="0"/>
          </a:p>
        </p:txBody>
      </p:sp>
      <p:sp>
        <p:nvSpPr>
          <p:cNvPr id="43" name="Text 40"/>
          <p:cNvSpPr/>
          <p:nvPr/>
        </p:nvSpPr>
        <p:spPr>
          <a:xfrm>
            <a:off x="4160520" y="3282696"/>
            <a:ext cx="868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MEDIUM</a:t>
            </a:r>
            <a:endParaRPr lang="en-US" sz="900" dirty="0"/>
          </a:p>
        </p:txBody>
      </p:sp>
      <p:sp>
        <p:nvSpPr>
          <p:cNvPr id="44" name="Text 41"/>
          <p:cNvSpPr/>
          <p:nvPr/>
        </p:nvSpPr>
        <p:spPr>
          <a:xfrm>
            <a:off x="5074920" y="3282696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EA5B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Mitigate</a:t>
            </a:r>
            <a:endParaRPr lang="en-US" sz="1000" dirty="0"/>
          </a:p>
        </p:txBody>
      </p:sp>
      <p:sp>
        <p:nvSpPr>
          <p:cNvPr id="45" name="Text 42"/>
          <p:cNvSpPr/>
          <p:nvPr/>
        </p:nvSpPr>
        <p:spPr>
          <a:xfrm>
            <a:off x="6053328" y="3236976"/>
            <a:ext cx="2788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B8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Cross-training + documentation</a:t>
            </a:r>
            <a:endParaRPr lang="en-US" sz="950" dirty="0"/>
          </a:p>
        </p:txBody>
      </p:sp>
      <p:sp>
        <p:nvSpPr>
          <p:cNvPr id="46" name="Shape 43"/>
          <p:cNvSpPr/>
          <p:nvPr/>
        </p:nvSpPr>
        <p:spPr>
          <a:xfrm>
            <a:off x="228600" y="3776472"/>
            <a:ext cx="8686800" cy="530352"/>
          </a:xfrm>
          <a:prstGeom prst="rect">
            <a:avLst/>
          </a:prstGeom>
          <a:solidFill>
            <a:srgbClr val="1A2D4A"/>
          </a:solidFill>
          <a:ln w="3810">
            <a:solidFill>
              <a:srgbClr val="2D4A7A"/>
            </a:solidFill>
            <a:prstDash val="solid"/>
          </a:ln>
        </p:spPr>
      </p:sp>
      <p:sp>
        <p:nvSpPr>
          <p:cNvPr id="47" name="Text 44"/>
          <p:cNvSpPr/>
          <p:nvPr/>
        </p:nvSpPr>
        <p:spPr>
          <a:xfrm>
            <a:off x="320040" y="3867912"/>
            <a:ext cx="2514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D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Integration Challenges</a:t>
            </a:r>
            <a:endParaRPr lang="en-US" sz="1000" dirty="0"/>
          </a:p>
        </p:txBody>
      </p:sp>
      <p:sp>
        <p:nvSpPr>
          <p:cNvPr id="48" name="Text 45"/>
          <p:cNvSpPr/>
          <p:nvPr/>
        </p:nvSpPr>
        <p:spPr>
          <a:xfrm>
            <a:off x="2907792" y="3867912"/>
            <a:ext cx="320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8B8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000" dirty="0"/>
          </a:p>
        </p:txBody>
      </p:sp>
      <p:sp>
        <p:nvSpPr>
          <p:cNvPr id="49" name="Text 46"/>
          <p:cNvSpPr/>
          <p:nvPr/>
        </p:nvSpPr>
        <p:spPr>
          <a:xfrm>
            <a:off x="3310128" y="3867912"/>
            <a:ext cx="320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8B8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000" dirty="0"/>
          </a:p>
        </p:txBody>
      </p:sp>
      <p:sp>
        <p:nvSpPr>
          <p:cNvPr id="50" name="Text 47"/>
          <p:cNvSpPr/>
          <p:nvPr/>
        </p:nvSpPr>
        <p:spPr>
          <a:xfrm>
            <a:off x="3703320" y="3867912"/>
            <a:ext cx="411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9</a:t>
            </a:r>
            <a:endParaRPr lang="en-US" sz="1100" dirty="0"/>
          </a:p>
        </p:txBody>
      </p:sp>
      <p:sp>
        <p:nvSpPr>
          <p:cNvPr id="51" name="Text 48"/>
          <p:cNvSpPr/>
          <p:nvPr/>
        </p:nvSpPr>
        <p:spPr>
          <a:xfrm>
            <a:off x="4160520" y="3867912"/>
            <a:ext cx="868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MEDIUM</a:t>
            </a:r>
            <a:endParaRPr lang="en-US" sz="900" dirty="0"/>
          </a:p>
        </p:txBody>
      </p:sp>
      <p:sp>
        <p:nvSpPr>
          <p:cNvPr id="52" name="Text 49"/>
          <p:cNvSpPr/>
          <p:nvPr/>
        </p:nvSpPr>
        <p:spPr>
          <a:xfrm>
            <a:off x="5074920" y="3867912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EA5B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Mitigate</a:t>
            </a:r>
            <a:endParaRPr lang="en-US" sz="1000" dirty="0"/>
          </a:p>
        </p:txBody>
      </p:sp>
      <p:sp>
        <p:nvSpPr>
          <p:cNvPr id="53" name="Text 50"/>
          <p:cNvSpPr/>
          <p:nvPr/>
        </p:nvSpPr>
        <p:spPr>
          <a:xfrm>
            <a:off x="6053328" y="3822192"/>
            <a:ext cx="2788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B8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API contracts + early integration testing</a:t>
            </a:r>
            <a:endParaRPr lang="en-US" sz="950" dirty="0"/>
          </a:p>
        </p:txBody>
      </p:sp>
      <p:sp>
        <p:nvSpPr>
          <p:cNvPr id="54" name="Shape 51"/>
          <p:cNvSpPr/>
          <p:nvPr/>
        </p:nvSpPr>
        <p:spPr>
          <a:xfrm>
            <a:off x="228600" y="4361688"/>
            <a:ext cx="8686800" cy="530352"/>
          </a:xfrm>
          <a:prstGeom prst="rect">
            <a:avLst/>
          </a:prstGeom>
          <a:solidFill>
            <a:srgbClr val="112240"/>
          </a:solidFill>
          <a:ln w="3810">
            <a:solidFill>
              <a:srgbClr val="2D4A7A"/>
            </a:solidFill>
            <a:prstDash val="solid"/>
          </a:ln>
        </p:spPr>
      </p:sp>
      <p:sp>
        <p:nvSpPr>
          <p:cNvPr id="55" name="Text 52"/>
          <p:cNvSpPr/>
          <p:nvPr/>
        </p:nvSpPr>
        <p:spPr>
          <a:xfrm>
            <a:off x="320040" y="4453128"/>
            <a:ext cx="2514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D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Tech Learning Curve</a:t>
            </a:r>
            <a:endParaRPr lang="en-US" sz="1000" dirty="0"/>
          </a:p>
        </p:txBody>
      </p:sp>
      <p:sp>
        <p:nvSpPr>
          <p:cNvPr id="56" name="Text 53"/>
          <p:cNvSpPr/>
          <p:nvPr/>
        </p:nvSpPr>
        <p:spPr>
          <a:xfrm>
            <a:off x="2907792" y="4453128"/>
            <a:ext cx="320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8B8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000" dirty="0"/>
          </a:p>
        </p:txBody>
      </p:sp>
      <p:sp>
        <p:nvSpPr>
          <p:cNvPr id="57" name="Text 54"/>
          <p:cNvSpPr/>
          <p:nvPr/>
        </p:nvSpPr>
        <p:spPr>
          <a:xfrm>
            <a:off x="3310128" y="4453128"/>
            <a:ext cx="320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8B8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000" dirty="0"/>
          </a:p>
        </p:txBody>
      </p:sp>
      <p:sp>
        <p:nvSpPr>
          <p:cNvPr id="58" name="Text 55"/>
          <p:cNvSpPr/>
          <p:nvPr/>
        </p:nvSpPr>
        <p:spPr>
          <a:xfrm>
            <a:off x="3703320" y="4453128"/>
            <a:ext cx="411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9</a:t>
            </a:r>
            <a:endParaRPr lang="en-US" sz="1100" dirty="0"/>
          </a:p>
        </p:txBody>
      </p:sp>
      <p:sp>
        <p:nvSpPr>
          <p:cNvPr id="59" name="Text 56"/>
          <p:cNvSpPr/>
          <p:nvPr/>
        </p:nvSpPr>
        <p:spPr>
          <a:xfrm>
            <a:off x="4160520" y="4453128"/>
            <a:ext cx="868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MEDIUM</a:t>
            </a:r>
            <a:endParaRPr lang="en-US" sz="900" dirty="0"/>
          </a:p>
        </p:txBody>
      </p:sp>
      <p:sp>
        <p:nvSpPr>
          <p:cNvPr id="60" name="Text 57"/>
          <p:cNvSpPr/>
          <p:nvPr/>
        </p:nvSpPr>
        <p:spPr>
          <a:xfrm>
            <a:off x="5074920" y="4453128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EA5B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Accept</a:t>
            </a:r>
            <a:endParaRPr lang="en-US" sz="1000" dirty="0"/>
          </a:p>
        </p:txBody>
      </p:sp>
      <p:sp>
        <p:nvSpPr>
          <p:cNvPr id="61" name="Text 58"/>
          <p:cNvSpPr/>
          <p:nvPr/>
        </p:nvSpPr>
        <p:spPr>
          <a:xfrm>
            <a:off x="6053328" y="4407408"/>
            <a:ext cx="2788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B8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Pair programming + proof-of-concept sprints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4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E4FD8"/>
          </a:solidFill>
          <a:ln w="12700">
            <a:solidFill>
              <a:srgbClr val="1E4FD8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182880"/>
            <a:ext cx="502920" cy="5029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14400" y="109728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Technical Architecture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914400" y="603504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BFDB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3-Layer Microservices  ·  React + Node.js + Python FastAPI  ·  PostgreSQL + Redis + Docker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256032" y="1078992"/>
            <a:ext cx="2011680" cy="3822192"/>
          </a:xfrm>
          <a:prstGeom prst="rect">
            <a:avLst/>
          </a:prstGeom>
          <a:solidFill>
            <a:srgbClr val="FFFFFF"/>
          </a:solidFill>
          <a:ln w="15240">
            <a:solidFill>
              <a:srgbClr val="5B21B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256032" y="1078992"/>
            <a:ext cx="2011680" cy="438912"/>
          </a:xfrm>
          <a:prstGeom prst="rect">
            <a:avLst/>
          </a:prstGeom>
          <a:solidFill>
            <a:srgbClr val="5B21B6"/>
          </a:solidFill>
          <a:ln w="12700">
            <a:solidFill>
              <a:srgbClr val="5B21B6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01752" y="1106424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PRESENTATION LAYER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347472" y="1600200"/>
            <a:ext cx="1828800" cy="512064"/>
          </a:xfrm>
          <a:prstGeom prst="rect">
            <a:avLst/>
          </a:prstGeom>
          <a:solidFill>
            <a:srgbClr val="F5F7FF"/>
          </a:solidFill>
          <a:ln w="6350">
            <a:solidFill>
              <a:srgbClr val="D1DCEF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347472" y="1600200"/>
            <a:ext cx="54864" cy="512064"/>
          </a:xfrm>
          <a:prstGeom prst="rect">
            <a:avLst/>
          </a:prstGeom>
          <a:solidFill>
            <a:srgbClr val="5B21B6"/>
          </a:solidFill>
          <a:ln w="12700">
            <a:solidFill>
              <a:srgbClr val="5B21B6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57200" y="1627632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374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React 18 + TypeScript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347472" y="2221992"/>
            <a:ext cx="1828800" cy="512064"/>
          </a:xfrm>
          <a:prstGeom prst="rect">
            <a:avLst/>
          </a:prstGeom>
          <a:solidFill>
            <a:srgbClr val="F5F7FF"/>
          </a:solidFill>
          <a:ln w="6350">
            <a:solidFill>
              <a:srgbClr val="D1DCEF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347472" y="2221992"/>
            <a:ext cx="54864" cy="512064"/>
          </a:xfrm>
          <a:prstGeom prst="rect">
            <a:avLst/>
          </a:prstGeom>
          <a:solidFill>
            <a:srgbClr val="5B21B6"/>
          </a:solidFill>
          <a:ln w="12700">
            <a:solidFill>
              <a:srgbClr val="5B21B6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57200" y="2249424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374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Redux Toolkit (state)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347472" y="2843784"/>
            <a:ext cx="1828800" cy="512064"/>
          </a:xfrm>
          <a:prstGeom prst="rect">
            <a:avLst/>
          </a:prstGeom>
          <a:solidFill>
            <a:srgbClr val="F5F7FF"/>
          </a:solidFill>
          <a:ln w="6350">
            <a:solidFill>
              <a:srgbClr val="D1DCEF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347472" y="2843784"/>
            <a:ext cx="54864" cy="512064"/>
          </a:xfrm>
          <a:prstGeom prst="rect">
            <a:avLst/>
          </a:prstGeom>
          <a:solidFill>
            <a:srgbClr val="5B21B6"/>
          </a:solidFill>
          <a:ln w="12700">
            <a:solidFill>
              <a:srgbClr val="5B21B6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457200" y="2871216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374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Material-UI components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347472" y="3465576"/>
            <a:ext cx="1828800" cy="512064"/>
          </a:xfrm>
          <a:prstGeom prst="rect">
            <a:avLst/>
          </a:prstGeom>
          <a:solidFill>
            <a:srgbClr val="F5F7FF"/>
          </a:solidFill>
          <a:ln w="6350">
            <a:solidFill>
              <a:srgbClr val="D1DCEF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347472" y="3465576"/>
            <a:ext cx="54864" cy="512064"/>
          </a:xfrm>
          <a:prstGeom prst="rect">
            <a:avLst/>
          </a:prstGeom>
          <a:solidFill>
            <a:srgbClr val="5B21B6"/>
          </a:solidFill>
          <a:ln w="12700">
            <a:solidFill>
              <a:srgbClr val="5B21B6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457200" y="3493008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374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Chart.js visualisations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347472" y="4087368"/>
            <a:ext cx="1828800" cy="512064"/>
          </a:xfrm>
          <a:prstGeom prst="rect">
            <a:avLst/>
          </a:prstGeom>
          <a:solidFill>
            <a:srgbClr val="F5F7FF"/>
          </a:solidFill>
          <a:ln w="6350">
            <a:solidFill>
              <a:srgbClr val="D1DCEF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347472" y="4087368"/>
            <a:ext cx="54864" cy="512064"/>
          </a:xfrm>
          <a:prstGeom prst="rect">
            <a:avLst/>
          </a:prstGeom>
          <a:solidFill>
            <a:srgbClr val="5B21B6"/>
          </a:solidFill>
          <a:ln w="12700">
            <a:solidFill>
              <a:srgbClr val="5B21B6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457200" y="411480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374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Axios API client</a:t>
            </a:r>
            <a:endParaRPr lang="en-US" sz="1000" dirty="0"/>
          </a:p>
        </p:txBody>
      </p:sp>
      <p:sp>
        <p:nvSpPr>
          <p:cNvPr id="24" name="Shape 21"/>
          <p:cNvSpPr/>
          <p:nvPr/>
        </p:nvSpPr>
        <p:spPr>
          <a:xfrm>
            <a:off x="2432304" y="1078992"/>
            <a:ext cx="2011680" cy="3822192"/>
          </a:xfrm>
          <a:prstGeom prst="rect">
            <a:avLst/>
          </a:prstGeom>
          <a:solidFill>
            <a:srgbClr val="FFFFFF"/>
          </a:solidFill>
          <a:ln w="15240">
            <a:solidFill>
              <a:srgbClr val="1E4F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5" name="Shape 22"/>
          <p:cNvSpPr/>
          <p:nvPr/>
        </p:nvSpPr>
        <p:spPr>
          <a:xfrm>
            <a:off x="2432304" y="1078992"/>
            <a:ext cx="2011680" cy="438912"/>
          </a:xfrm>
          <a:prstGeom prst="rect">
            <a:avLst/>
          </a:prstGeom>
          <a:solidFill>
            <a:srgbClr val="1E4FD8"/>
          </a:solidFill>
          <a:ln w="12700">
            <a:solidFill>
              <a:srgbClr val="1E4FD8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2478024" y="1106424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APPLICATION LAYER</a:t>
            </a:r>
            <a:endParaRPr lang="en-US" sz="950" dirty="0"/>
          </a:p>
        </p:txBody>
      </p:sp>
      <p:sp>
        <p:nvSpPr>
          <p:cNvPr id="27" name="Shape 24"/>
          <p:cNvSpPr/>
          <p:nvPr/>
        </p:nvSpPr>
        <p:spPr>
          <a:xfrm>
            <a:off x="2523744" y="1600200"/>
            <a:ext cx="1828800" cy="512064"/>
          </a:xfrm>
          <a:prstGeom prst="rect">
            <a:avLst/>
          </a:prstGeom>
          <a:solidFill>
            <a:srgbClr val="F5F7FF"/>
          </a:solidFill>
          <a:ln w="6350">
            <a:solidFill>
              <a:srgbClr val="D1DCEF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2523744" y="1600200"/>
            <a:ext cx="54864" cy="512064"/>
          </a:xfrm>
          <a:prstGeom prst="rect">
            <a:avLst/>
          </a:prstGeom>
          <a:solidFill>
            <a:srgbClr val="1E4FD8"/>
          </a:solidFill>
          <a:ln w="12700">
            <a:solidFill>
              <a:srgbClr val="1E4FD8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2633472" y="1627632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374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Node.js / Express.js</a:t>
            </a:r>
            <a:endParaRPr lang="en-US" sz="1000" dirty="0"/>
          </a:p>
        </p:txBody>
      </p:sp>
      <p:sp>
        <p:nvSpPr>
          <p:cNvPr id="30" name="Shape 27"/>
          <p:cNvSpPr/>
          <p:nvPr/>
        </p:nvSpPr>
        <p:spPr>
          <a:xfrm>
            <a:off x="2523744" y="2221992"/>
            <a:ext cx="1828800" cy="512064"/>
          </a:xfrm>
          <a:prstGeom prst="rect">
            <a:avLst/>
          </a:prstGeom>
          <a:solidFill>
            <a:srgbClr val="F5F7FF"/>
          </a:solidFill>
          <a:ln w="6350">
            <a:solidFill>
              <a:srgbClr val="D1DCEF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2523744" y="2221992"/>
            <a:ext cx="54864" cy="512064"/>
          </a:xfrm>
          <a:prstGeom prst="rect">
            <a:avLst/>
          </a:prstGeom>
          <a:solidFill>
            <a:srgbClr val="1E4FD8"/>
          </a:solidFill>
          <a:ln w="12700">
            <a:solidFill>
              <a:srgbClr val="1E4FD8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2633472" y="2249424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374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JWT Authentication</a:t>
            </a:r>
            <a:endParaRPr lang="en-US" sz="1000" dirty="0"/>
          </a:p>
        </p:txBody>
      </p:sp>
      <p:sp>
        <p:nvSpPr>
          <p:cNvPr id="33" name="Shape 30"/>
          <p:cNvSpPr/>
          <p:nvPr/>
        </p:nvSpPr>
        <p:spPr>
          <a:xfrm>
            <a:off x="2523744" y="2843784"/>
            <a:ext cx="1828800" cy="512064"/>
          </a:xfrm>
          <a:prstGeom prst="rect">
            <a:avLst/>
          </a:prstGeom>
          <a:solidFill>
            <a:srgbClr val="F5F7FF"/>
          </a:solidFill>
          <a:ln w="6350">
            <a:solidFill>
              <a:srgbClr val="D1DCEF"/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2523744" y="2843784"/>
            <a:ext cx="54864" cy="512064"/>
          </a:xfrm>
          <a:prstGeom prst="rect">
            <a:avLst/>
          </a:prstGeom>
          <a:solidFill>
            <a:srgbClr val="1E4FD8"/>
          </a:solidFill>
          <a:ln w="12700">
            <a:solidFill>
              <a:srgbClr val="1E4FD8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2633472" y="2871216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374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Sequelize ORM</a:t>
            </a:r>
            <a:endParaRPr lang="en-US" sz="1000" dirty="0"/>
          </a:p>
        </p:txBody>
      </p:sp>
      <p:sp>
        <p:nvSpPr>
          <p:cNvPr id="36" name="Shape 33"/>
          <p:cNvSpPr/>
          <p:nvPr/>
        </p:nvSpPr>
        <p:spPr>
          <a:xfrm>
            <a:off x="2523744" y="3465576"/>
            <a:ext cx="1828800" cy="512064"/>
          </a:xfrm>
          <a:prstGeom prst="rect">
            <a:avLst/>
          </a:prstGeom>
          <a:solidFill>
            <a:srgbClr val="F5F7FF"/>
          </a:solidFill>
          <a:ln w="6350">
            <a:solidFill>
              <a:srgbClr val="D1DCEF"/>
            </a:solidFill>
            <a:prstDash val="solid"/>
          </a:ln>
        </p:spPr>
      </p:sp>
      <p:sp>
        <p:nvSpPr>
          <p:cNvPr id="37" name="Shape 34"/>
          <p:cNvSpPr/>
          <p:nvPr/>
        </p:nvSpPr>
        <p:spPr>
          <a:xfrm>
            <a:off x="2523744" y="3465576"/>
            <a:ext cx="54864" cy="512064"/>
          </a:xfrm>
          <a:prstGeom prst="rect">
            <a:avLst/>
          </a:prstGeom>
          <a:solidFill>
            <a:srgbClr val="1E4FD8"/>
          </a:solidFill>
          <a:ln w="12700">
            <a:solidFill>
              <a:srgbClr val="1E4FD8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2633472" y="3493008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374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Socket.io real-time</a:t>
            </a:r>
            <a:endParaRPr lang="en-US" sz="1000" dirty="0"/>
          </a:p>
        </p:txBody>
      </p:sp>
      <p:sp>
        <p:nvSpPr>
          <p:cNvPr id="39" name="Shape 36"/>
          <p:cNvSpPr/>
          <p:nvPr/>
        </p:nvSpPr>
        <p:spPr>
          <a:xfrm>
            <a:off x="2523744" y="4087368"/>
            <a:ext cx="1828800" cy="512064"/>
          </a:xfrm>
          <a:prstGeom prst="rect">
            <a:avLst/>
          </a:prstGeom>
          <a:solidFill>
            <a:srgbClr val="F5F7FF"/>
          </a:solidFill>
          <a:ln w="6350">
            <a:solidFill>
              <a:srgbClr val="D1DCEF"/>
            </a:solidFill>
            <a:prstDash val="solid"/>
          </a:ln>
        </p:spPr>
      </p:sp>
      <p:sp>
        <p:nvSpPr>
          <p:cNvPr id="40" name="Shape 37"/>
          <p:cNvSpPr/>
          <p:nvPr/>
        </p:nvSpPr>
        <p:spPr>
          <a:xfrm>
            <a:off x="2523744" y="4087368"/>
            <a:ext cx="54864" cy="512064"/>
          </a:xfrm>
          <a:prstGeom prst="rect">
            <a:avLst/>
          </a:prstGeom>
          <a:solidFill>
            <a:srgbClr val="1E4FD8"/>
          </a:solidFill>
          <a:ln w="12700">
            <a:solidFill>
              <a:srgbClr val="1E4FD8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2633472" y="411480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374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Python FastAPI (AI)</a:t>
            </a:r>
            <a:endParaRPr lang="en-US" sz="1000" dirty="0"/>
          </a:p>
        </p:txBody>
      </p:sp>
      <p:sp>
        <p:nvSpPr>
          <p:cNvPr id="42" name="Shape 39"/>
          <p:cNvSpPr/>
          <p:nvPr/>
        </p:nvSpPr>
        <p:spPr>
          <a:xfrm>
            <a:off x="4608576" y="1078992"/>
            <a:ext cx="2011680" cy="3822192"/>
          </a:xfrm>
          <a:prstGeom prst="rect">
            <a:avLst/>
          </a:prstGeom>
          <a:solidFill>
            <a:srgbClr val="FFFFFF"/>
          </a:solidFill>
          <a:ln w="15240">
            <a:solidFill>
              <a:srgbClr val="0891B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43" name="Shape 40"/>
          <p:cNvSpPr/>
          <p:nvPr/>
        </p:nvSpPr>
        <p:spPr>
          <a:xfrm>
            <a:off x="4608576" y="1078992"/>
            <a:ext cx="2011680" cy="43891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4654296" y="1106424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AI / ML LAYER</a:t>
            </a:r>
            <a:endParaRPr lang="en-US" sz="950" dirty="0"/>
          </a:p>
        </p:txBody>
      </p:sp>
      <p:sp>
        <p:nvSpPr>
          <p:cNvPr id="45" name="Shape 42"/>
          <p:cNvSpPr/>
          <p:nvPr/>
        </p:nvSpPr>
        <p:spPr>
          <a:xfrm>
            <a:off x="4700016" y="1600200"/>
            <a:ext cx="1828800" cy="512064"/>
          </a:xfrm>
          <a:prstGeom prst="rect">
            <a:avLst/>
          </a:prstGeom>
          <a:solidFill>
            <a:srgbClr val="F5F7FF"/>
          </a:solidFill>
          <a:ln w="6350">
            <a:solidFill>
              <a:srgbClr val="D1DCEF"/>
            </a:solidFill>
            <a:prstDash val="solid"/>
          </a:ln>
        </p:spPr>
      </p:sp>
      <p:sp>
        <p:nvSpPr>
          <p:cNvPr id="46" name="Shape 43"/>
          <p:cNvSpPr/>
          <p:nvPr/>
        </p:nvSpPr>
        <p:spPr>
          <a:xfrm>
            <a:off x="4700016" y="1600200"/>
            <a:ext cx="54864" cy="512064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47" name="Text 44"/>
          <p:cNvSpPr/>
          <p:nvPr/>
        </p:nvSpPr>
        <p:spPr>
          <a:xfrm>
            <a:off x="4809744" y="1627632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374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spaCy + NLTK NLP</a:t>
            </a:r>
            <a:endParaRPr lang="en-US" sz="1000" dirty="0"/>
          </a:p>
        </p:txBody>
      </p:sp>
      <p:sp>
        <p:nvSpPr>
          <p:cNvPr id="48" name="Shape 45"/>
          <p:cNvSpPr/>
          <p:nvPr/>
        </p:nvSpPr>
        <p:spPr>
          <a:xfrm>
            <a:off x="4700016" y="2221992"/>
            <a:ext cx="1828800" cy="512064"/>
          </a:xfrm>
          <a:prstGeom prst="rect">
            <a:avLst/>
          </a:prstGeom>
          <a:solidFill>
            <a:srgbClr val="F5F7FF"/>
          </a:solidFill>
          <a:ln w="6350">
            <a:solidFill>
              <a:srgbClr val="D1DCEF"/>
            </a:solidFill>
            <a:prstDash val="solid"/>
          </a:ln>
        </p:spPr>
      </p:sp>
      <p:sp>
        <p:nvSpPr>
          <p:cNvPr id="49" name="Shape 46"/>
          <p:cNvSpPr/>
          <p:nvPr/>
        </p:nvSpPr>
        <p:spPr>
          <a:xfrm>
            <a:off x="4700016" y="2221992"/>
            <a:ext cx="54864" cy="512064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50" name="Text 47"/>
          <p:cNvSpPr/>
          <p:nvPr/>
        </p:nvSpPr>
        <p:spPr>
          <a:xfrm>
            <a:off x="4809744" y="2249424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374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BERT intent classifier</a:t>
            </a:r>
            <a:endParaRPr lang="en-US" sz="1000" dirty="0"/>
          </a:p>
        </p:txBody>
      </p:sp>
      <p:sp>
        <p:nvSpPr>
          <p:cNvPr id="51" name="Shape 48"/>
          <p:cNvSpPr/>
          <p:nvPr/>
        </p:nvSpPr>
        <p:spPr>
          <a:xfrm>
            <a:off x="4700016" y="2843784"/>
            <a:ext cx="1828800" cy="512064"/>
          </a:xfrm>
          <a:prstGeom prst="rect">
            <a:avLst/>
          </a:prstGeom>
          <a:solidFill>
            <a:srgbClr val="F5F7FF"/>
          </a:solidFill>
          <a:ln w="6350">
            <a:solidFill>
              <a:srgbClr val="D1DCEF"/>
            </a:solidFill>
            <a:prstDash val="solid"/>
          </a:ln>
        </p:spPr>
      </p:sp>
      <p:sp>
        <p:nvSpPr>
          <p:cNvPr id="52" name="Shape 49"/>
          <p:cNvSpPr/>
          <p:nvPr/>
        </p:nvSpPr>
        <p:spPr>
          <a:xfrm>
            <a:off x="4700016" y="2843784"/>
            <a:ext cx="54864" cy="512064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53" name="Text 50"/>
          <p:cNvSpPr/>
          <p:nvPr/>
        </p:nvSpPr>
        <p:spPr>
          <a:xfrm>
            <a:off x="4809744" y="2871216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374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Random Forest + NN</a:t>
            </a:r>
            <a:endParaRPr lang="en-US" sz="1000" dirty="0"/>
          </a:p>
        </p:txBody>
      </p:sp>
      <p:sp>
        <p:nvSpPr>
          <p:cNvPr id="54" name="Shape 51"/>
          <p:cNvSpPr/>
          <p:nvPr/>
        </p:nvSpPr>
        <p:spPr>
          <a:xfrm>
            <a:off x="4700016" y="3465576"/>
            <a:ext cx="1828800" cy="512064"/>
          </a:xfrm>
          <a:prstGeom prst="rect">
            <a:avLst/>
          </a:prstGeom>
          <a:solidFill>
            <a:srgbClr val="F5F7FF"/>
          </a:solidFill>
          <a:ln w="6350">
            <a:solidFill>
              <a:srgbClr val="D1DCEF"/>
            </a:solidFill>
            <a:prstDash val="solid"/>
          </a:ln>
        </p:spPr>
      </p:sp>
      <p:sp>
        <p:nvSpPr>
          <p:cNvPr id="55" name="Shape 52"/>
          <p:cNvSpPr/>
          <p:nvPr/>
        </p:nvSpPr>
        <p:spPr>
          <a:xfrm>
            <a:off x="4700016" y="3465576"/>
            <a:ext cx="54864" cy="512064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56" name="Text 53"/>
          <p:cNvSpPr/>
          <p:nvPr/>
        </p:nvSpPr>
        <p:spPr>
          <a:xfrm>
            <a:off x="4809744" y="3493008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374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FastAPI microservice</a:t>
            </a:r>
            <a:endParaRPr lang="en-US" sz="1000" dirty="0"/>
          </a:p>
        </p:txBody>
      </p:sp>
      <p:sp>
        <p:nvSpPr>
          <p:cNvPr id="57" name="Shape 54"/>
          <p:cNvSpPr/>
          <p:nvPr/>
        </p:nvSpPr>
        <p:spPr>
          <a:xfrm>
            <a:off x="4700016" y="4087368"/>
            <a:ext cx="1828800" cy="512064"/>
          </a:xfrm>
          <a:prstGeom prst="rect">
            <a:avLst/>
          </a:prstGeom>
          <a:solidFill>
            <a:srgbClr val="F5F7FF"/>
          </a:solidFill>
          <a:ln w="6350">
            <a:solidFill>
              <a:srgbClr val="D1DCEF"/>
            </a:solidFill>
            <a:prstDash val="solid"/>
          </a:ln>
        </p:spPr>
      </p:sp>
      <p:sp>
        <p:nvSpPr>
          <p:cNvPr id="58" name="Shape 55"/>
          <p:cNvSpPr/>
          <p:nvPr/>
        </p:nvSpPr>
        <p:spPr>
          <a:xfrm>
            <a:off x="4700016" y="4087368"/>
            <a:ext cx="54864" cy="512064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59" name="Text 56"/>
          <p:cNvSpPr/>
          <p:nvPr/>
        </p:nvSpPr>
        <p:spPr>
          <a:xfrm>
            <a:off x="4809744" y="411480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374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87% accuracy achieved</a:t>
            </a:r>
            <a:endParaRPr lang="en-US" sz="1000" dirty="0"/>
          </a:p>
        </p:txBody>
      </p:sp>
      <p:sp>
        <p:nvSpPr>
          <p:cNvPr id="60" name="Shape 57"/>
          <p:cNvSpPr/>
          <p:nvPr/>
        </p:nvSpPr>
        <p:spPr>
          <a:xfrm>
            <a:off x="6784848" y="1078992"/>
            <a:ext cx="2011680" cy="3822192"/>
          </a:xfrm>
          <a:prstGeom prst="rect">
            <a:avLst/>
          </a:prstGeom>
          <a:solidFill>
            <a:srgbClr val="FFFFFF"/>
          </a:solidFill>
          <a:ln w="15240">
            <a:solidFill>
              <a:srgbClr val="05966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1" name="Shape 58"/>
          <p:cNvSpPr/>
          <p:nvPr/>
        </p:nvSpPr>
        <p:spPr>
          <a:xfrm>
            <a:off x="6784848" y="1078992"/>
            <a:ext cx="2011680" cy="438912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62" name="Text 59"/>
          <p:cNvSpPr/>
          <p:nvPr/>
        </p:nvSpPr>
        <p:spPr>
          <a:xfrm>
            <a:off x="6830568" y="1106424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 LAYER</a:t>
            </a:r>
            <a:endParaRPr lang="en-US" sz="950" dirty="0"/>
          </a:p>
        </p:txBody>
      </p:sp>
      <p:sp>
        <p:nvSpPr>
          <p:cNvPr id="63" name="Shape 60"/>
          <p:cNvSpPr/>
          <p:nvPr/>
        </p:nvSpPr>
        <p:spPr>
          <a:xfrm>
            <a:off x="6876288" y="1600200"/>
            <a:ext cx="1828800" cy="512064"/>
          </a:xfrm>
          <a:prstGeom prst="rect">
            <a:avLst/>
          </a:prstGeom>
          <a:solidFill>
            <a:srgbClr val="F5F7FF"/>
          </a:solidFill>
          <a:ln w="6350">
            <a:solidFill>
              <a:srgbClr val="D1DCEF"/>
            </a:solidFill>
            <a:prstDash val="solid"/>
          </a:ln>
        </p:spPr>
      </p:sp>
      <p:sp>
        <p:nvSpPr>
          <p:cNvPr id="64" name="Shape 61"/>
          <p:cNvSpPr/>
          <p:nvPr/>
        </p:nvSpPr>
        <p:spPr>
          <a:xfrm>
            <a:off x="6876288" y="1600200"/>
            <a:ext cx="54864" cy="512064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65" name="Text 62"/>
          <p:cNvSpPr/>
          <p:nvPr/>
        </p:nvSpPr>
        <p:spPr>
          <a:xfrm>
            <a:off x="6986016" y="1627632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374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PostgreSQL 15</a:t>
            </a:r>
            <a:endParaRPr lang="en-US" sz="1000" dirty="0"/>
          </a:p>
        </p:txBody>
      </p:sp>
      <p:sp>
        <p:nvSpPr>
          <p:cNvPr id="66" name="Shape 63"/>
          <p:cNvSpPr/>
          <p:nvPr/>
        </p:nvSpPr>
        <p:spPr>
          <a:xfrm>
            <a:off x="6876288" y="2221992"/>
            <a:ext cx="1828800" cy="512064"/>
          </a:xfrm>
          <a:prstGeom prst="rect">
            <a:avLst/>
          </a:prstGeom>
          <a:solidFill>
            <a:srgbClr val="F5F7FF"/>
          </a:solidFill>
          <a:ln w="6350">
            <a:solidFill>
              <a:srgbClr val="D1DCEF"/>
            </a:solidFill>
            <a:prstDash val="solid"/>
          </a:ln>
        </p:spPr>
      </p:sp>
      <p:sp>
        <p:nvSpPr>
          <p:cNvPr id="67" name="Shape 64"/>
          <p:cNvSpPr/>
          <p:nvPr/>
        </p:nvSpPr>
        <p:spPr>
          <a:xfrm>
            <a:off x="6876288" y="2221992"/>
            <a:ext cx="54864" cy="512064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68" name="Text 65"/>
          <p:cNvSpPr/>
          <p:nvPr/>
        </p:nvSpPr>
        <p:spPr>
          <a:xfrm>
            <a:off x="6986016" y="2249424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374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Redis caching</a:t>
            </a:r>
            <a:endParaRPr lang="en-US" sz="1000" dirty="0"/>
          </a:p>
        </p:txBody>
      </p:sp>
      <p:sp>
        <p:nvSpPr>
          <p:cNvPr id="69" name="Shape 66"/>
          <p:cNvSpPr/>
          <p:nvPr/>
        </p:nvSpPr>
        <p:spPr>
          <a:xfrm>
            <a:off x="6876288" y="2843784"/>
            <a:ext cx="1828800" cy="512064"/>
          </a:xfrm>
          <a:prstGeom prst="rect">
            <a:avLst/>
          </a:prstGeom>
          <a:solidFill>
            <a:srgbClr val="F5F7FF"/>
          </a:solidFill>
          <a:ln w="6350">
            <a:solidFill>
              <a:srgbClr val="D1DCEF"/>
            </a:solidFill>
            <a:prstDash val="solid"/>
          </a:ln>
        </p:spPr>
      </p:sp>
      <p:sp>
        <p:nvSpPr>
          <p:cNvPr id="70" name="Shape 67"/>
          <p:cNvSpPr/>
          <p:nvPr/>
        </p:nvSpPr>
        <p:spPr>
          <a:xfrm>
            <a:off x="6876288" y="2843784"/>
            <a:ext cx="54864" cy="512064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71" name="Text 68"/>
          <p:cNvSpPr/>
          <p:nvPr/>
        </p:nvSpPr>
        <p:spPr>
          <a:xfrm>
            <a:off x="6986016" y="2871216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374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Cloud file storage</a:t>
            </a:r>
            <a:endParaRPr lang="en-US" sz="1000" dirty="0"/>
          </a:p>
        </p:txBody>
      </p:sp>
      <p:sp>
        <p:nvSpPr>
          <p:cNvPr id="72" name="Shape 69"/>
          <p:cNvSpPr/>
          <p:nvPr/>
        </p:nvSpPr>
        <p:spPr>
          <a:xfrm>
            <a:off x="6876288" y="3465576"/>
            <a:ext cx="1828800" cy="512064"/>
          </a:xfrm>
          <a:prstGeom prst="rect">
            <a:avLst/>
          </a:prstGeom>
          <a:solidFill>
            <a:srgbClr val="F5F7FF"/>
          </a:solidFill>
          <a:ln w="6350">
            <a:solidFill>
              <a:srgbClr val="D1DCEF"/>
            </a:solidFill>
            <a:prstDash val="solid"/>
          </a:ln>
        </p:spPr>
      </p:sp>
      <p:sp>
        <p:nvSpPr>
          <p:cNvPr id="73" name="Shape 70"/>
          <p:cNvSpPr/>
          <p:nvPr/>
        </p:nvSpPr>
        <p:spPr>
          <a:xfrm>
            <a:off x="6876288" y="3465576"/>
            <a:ext cx="54864" cy="512064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74" name="Text 71"/>
          <p:cNvSpPr/>
          <p:nvPr/>
        </p:nvSpPr>
        <p:spPr>
          <a:xfrm>
            <a:off x="6986016" y="3493008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374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Migration scripts</a:t>
            </a:r>
            <a:endParaRPr lang="en-US" sz="1000" dirty="0"/>
          </a:p>
        </p:txBody>
      </p:sp>
      <p:sp>
        <p:nvSpPr>
          <p:cNvPr id="75" name="Shape 72"/>
          <p:cNvSpPr/>
          <p:nvPr/>
        </p:nvSpPr>
        <p:spPr>
          <a:xfrm>
            <a:off x="6876288" y="4087368"/>
            <a:ext cx="1828800" cy="512064"/>
          </a:xfrm>
          <a:prstGeom prst="rect">
            <a:avLst/>
          </a:prstGeom>
          <a:solidFill>
            <a:srgbClr val="F5F7FF"/>
          </a:solidFill>
          <a:ln w="6350">
            <a:solidFill>
              <a:srgbClr val="D1DCEF"/>
            </a:solidFill>
            <a:prstDash val="solid"/>
          </a:ln>
        </p:spPr>
      </p:sp>
      <p:sp>
        <p:nvSpPr>
          <p:cNvPr id="76" name="Shape 73"/>
          <p:cNvSpPr/>
          <p:nvPr/>
        </p:nvSpPr>
        <p:spPr>
          <a:xfrm>
            <a:off x="6876288" y="4087368"/>
            <a:ext cx="54864" cy="512064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77" name="Text 74"/>
          <p:cNvSpPr/>
          <p:nvPr/>
        </p:nvSpPr>
        <p:spPr>
          <a:xfrm>
            <a:off x="6986016" y="411480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374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Backup strategy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65F46"/>
          </a:solidFill>
          <a:ln w="12700">
            <a:solidFill>
              <a:srgbClr val="065F46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201168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14400" y="109728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Quality Assurance &amp; Testing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914400" y="603504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A7F3D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Test Pyramid  ·  CI-Integrated  ·  6/6 Quality Metrics Achieved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274320" y="1051560"/>
            <a:ext cx="8595360" cy="530352"/>
          </a:xfrm>
          <a:prstGeom prst="rect">
            <a:avLst/>
          </a:prstGeom>
          <a:solidFill>
            <a:srgbClr val="1E4FD8"/>
          </a:solidFill>
          <a:ln w="12700">
            <a:solidFill>
              <a:srgbClr val="1E4F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411480" y="1143000"/>
            <a:ext cx="8321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Unit Tests  |  Jest + Mocha + Pytest  |  81% avg coverage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640080" y="1691640"/>
            <a:ext cx="7863840" cy="53035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777240" y="1783080"/>
            <a:ext cx="7589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Integration Tests  |  Supertest + DB Integration  |  All 15 API endpoints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1280160" y="2331720"/>
            <a:ext cx="6583680" cy="53035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1417320" y="2423160"/>
            <a:ext cx="6309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E2E Tests  |  Cypress Automation  |  3 critical user flows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2103120" y="2971800"/>
            <a:ext cx="4937760" cy="5303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2240280" y="3063240"/>
            <a:ext cx="4663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Performance Tests  |  K6 Load Testing  |  &lt;200ms at 95th percentile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2926080" y="3611880"/>
            <a:ext cx="3291840" cy="530352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3063240" y="3703320"/>
            <a:ext cx="3017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Security Tests  |  OWASP + Snyk  |  Zero critical vulns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274320" y="4315968"/>
            <a:ext cx="2651760" cy="658368"/>
          </a:xfrm>
          <a:prstGeom prst="rect">
            <a:avLst/>
          </a:prstGeom>
          <a:solidFill>
            <a:srgbClr val="1A2D4A"/>
          </a:solidFill>
          <a:ln w="10160">
            <a:solidFill>
              <a:srgbClr val="10B981"/>
            </a:solidFill>
            <a:prstDash val="solid"/>
          </a:ln>
        </p:spPr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472" y="4517136"/>
            <a:ext cx="256032" cy="256032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658368" y="4480560"/>
            <a:ext cx="2194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0B98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Code Coverage: 81% (target ≥80%)</a:t>
            </a:r>
            <a:endParaRPr lang="en-US" sz="1050" dirty="0"/>
          </a:p>
        </p:txBody>
      </p:sp>
      <p:sp>
        <p:nvSpPr>
          <p:cNvPr id="19" name="Shape 15"/>
          <p:cNvSpPr/>
          <p:nvPr/>
        </p:nvSpPr>
        <p:spPr>
          <a:xfrm>
            <a:off x="3154680" y="4315968"/>
            <a:ext cx="2651760" cy="658368"/>
          </a:xfrm>
          <a:prstGeom prst="rect">
            <a:avLst/>
          </a:prstGeom>
          <a:solidFill>
            <a:srgbClr val="1A2D4A"/>
          </a:solidFill>
          <a:ln w="10160">
            <a:solidFill>
              <a:srgbClr val="10B981"/>
            </a:solidFill>
            <a:prstDash val="solid"/>
          </a:ln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27832" y="4517136"/>
            <a:ext cx="256032" cy="256032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3538728" y="4480560"/>
            <a:ext cx="2194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0B98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API Response: 145ms (target &lt;200ms)</a:t>
            </a:r>
            <a:endParaRPr lang="en-US" sz="1050" dirty="0"/>
          </a:p>
        </p:txBody>
      </p:sp>
      <p:sp>
        <p:nvSpPr>
          <p:cNvPr id="22" name="Shape 17"/>
          <p:cNvSpPr/>
          <p:nvPr/>
        </p:nvSpPr>
        <p:spPr>
          <a:xfrm>
            <a:off x="6035040" y="4315968"/>
            <a:ext cx="2651760" cy="658368"/>
          </a:xfrm>
          <a:prstGeom prst="rect">
            <a:avLst/>
          </a:prstGeom>
          <a:solidFill>
            <a:srgbClr val="1A2D4A"/>
          </a:solidFill>
          <a:ln w="10160">
            <a:solidFill>
              <a:srgbClr val="10B981"/>
            </a:solidFill>
            <a:prstDash val="solid"/>
          </a:ln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08192" y="4517136"/>
            <a:ext cx="256032" cy="256032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6419088" y="4480560"/>
            <a:ext cx="2194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0B98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System Uptime: 99.7% (target ≥99%)</a:t>
            </a:r>
            <a:endParaRPr lang="en-US" sz="1050" dirty="0"/>
          </a:p>
        </p:txBody>
      </p:sp>
      <p:sp>
        <p:nvSpPr>
          <p:cNvPr id="25" name="Shape 19"/>
          <p:cNvSpPr/>
          <p:nvPr/>
        </p:nvSpPr>
        <p:spPr>
          <a:xfrm>
            <a:off x="274320" y="4315968"/>
            <a:ext cx="2651760" cy="658368"/>
          </a:xfrm>
          <a:prstGeom prst="rect">
            <a:avLst/>
          </a:prstGeom>
          <a:solidFill>
            <a:srgbClr val="1A2D4A"/>
          </a:solidFill>
          <a:ln w="10160">
            <a:solidFill>
              <a:srgbClr val="10B981"/>
            </a:solidFill>
            <a:prstDash val="solid"/>
          </a:ln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7472" y="4517136"/>
            <a:ext cx="256032" cy="256032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658368" y="4480560"/>
            <a:ext cx="2194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0B98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AI Accuracy: 87% (target &gt;85%)</a:t>
            </a:r>
            <a:endParaRPr lang="en-US" sz="1050" dirty="0"/>
          </a:p>
        </p:txBody>
      </p:sp>
      <p:sp>
        <p:nvSpPr>
          <p:cNvPr id="28" name="Shape 21"/>
          <p:cNvSpPr/>
          <p:nvPr/>
        </p:nvSpPr>
        <p:spPr>
          <a:xfrm>
            <a:off x="3154680" y="4315968"/>
            <a:ext cx="2651760" cy="658368"/>
          </a:xfrm>
          <a:prstGeom prst="rect">
            <a:avLst/>
          </a:prstGeom>
          <a:solidFill>
            <a:srgbClr val="1A2D4A"/>
          </a:solidFill>
          <a:ln w="10160">
            <a:solidFill>
              <a:srgbClr val="10B981"/>
            </a:solidFill>
            <a:prstDash val="solid"/>
          </a:ln>
        </p:spPr>
      </p:sp>
      <p:pic>
        <p:nvPicPr>
          <p:cNvPr id="2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27832" y="4517136"/>
            <a:ext cx="256032" cy="256032"/>
          </a:xfrm>
          <a:prstGeom prst="rect">
            <a:avLst/>
          </a:prstGeom>
        </p:spPr>
      </p:pic>
      <p:sp>
        <p:nvSpPr>
          <p:cNvPr id="30" name="Text 22"/>
          <p:cNvSpPr/>
          <p:nvPr/>
        </p:nvSpPr>
        <p:spPr>
          <a:xfrm>
            <a:off x="3538728" y="4480560"/>
            <a:ext cx="2194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0B98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Bug Density: 0.7 (target &lt;1/100)</a:t>
            </a:r>
            <a:endParaRPr lang="en-US" sz="1050" dirty="0"/>
          </a:p>
        </p:txBody>
      </p:sp>
      <p:sp>
        <p:nvSpPr>
          <p:cNvPr id="31" name="Shape 23"/>
          <p:cNvSpPr/>
          <p:nvPr/>
        </p:nvSpPr>
        <p:spPr>
          <a:xfrm>
            <a:off x="6035040" y="4315968"/>
            <a:ext cx="2651760" cy="658368"/>
          </a:xfrm>
          <a:prstGeom prst="rect">
            <a:avLst/>
          </a:prstGeom>
          <a:solidFill>
            <a:srgbClr val="1A2D4A"/>
          </a:solidFill>
          <a:ln w="10160">
            <a:solidFill>
              <a:srgbClr val="10B981"/>
            </a:solidFill>
            <a:prstDash val="solid"/>
          </a:ln>
        </p:spPr>
      </p:sp>
      <p:pic>
        <p:nvPicPr>
          <p:cNvPr id="32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08192" y="4517136"/>
            <a:ext cx="256032" cy="256032"/>
          </a:xfrm>
          <a:prstGeom prst="rect">
            <a:avLst/>
          </a:prstGeom>
        </p:spPr>
      </p:pic>
      <p:sp>
        <p:nvSpPr>
          <p:cNvPr id="33" name="Text 24"/>
          <p:cNvSpPr/>
          <p:nvPr/>
        </p:nvSpPr>
        <p:spPr>
          <a:xfrm>
            <a:off x="6419088" y="4480560"/>
            <a:ext cx="2194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0B98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UAT Satisfaction: 82% (target &gt;80%)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F4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12240"/>
          </a:solidFill>
          <a:ln w="12700">
            <a:solidFill>
              <a:srgbClr val="11224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SPM Frameworks Applied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603504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0EA5B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Triple Constraint  ·  WBS  ·  SDLC  ·  Change Control  ·  Stakeholder Management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56032" y="1078992"/>
            <a:ext cx="2743200" cy="1737360"/>
          </a:xfrm>
          <a:prstGeom prst="rect">
            <a:avLst/>
          </a:prstGeom>
          <a:solidFill>
            <a:srgbClr val="FFFFFF"/>
          </a:solidFill>
          <a:ln w="10160">
            <a:solidFill>
              <a:srgbClr val="D1DCE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56032" y="1078992"/>
            <a:ext cx="73152" cy="1737360"/>
          </a:xfrm>
          <a:prstGeom prst="rect">
            <a:avLst/>
          </a:prstGeom>
          <a:solidFill>
            <a:srgbClr val="1E4FD8"/>
          </a:solidFill>
          <a:ln w="12700">
            <a:solidFill>
              <a:srgbClr val="1E4FD8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0624" y="1243584"/>
            <a:ext cx="384048" cy="38404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77824" y="1216152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162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Triple Constraint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877824" y="1536192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Time fixed (16 wks)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Cost = zero (open-source)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Scope managed via MoSCoW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3200400" y="1078992"/>
            <a:ext cx="2743200" cy="1737360"/>
          </a:xfrm>
          <a:prstGeom prst="rect">
            <a:avLst/>
          </a:prstGeom>
          <a:solidFill>
            <a:srgbClr val="FFFFFF"/>
          </a:solidFill>
          <a:ln w="10160">
            <a:solidFill>
              <a:srgbClr val="D1DCE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200400" y="1078992"/>
            <a:ext cx="73152" cy="1737360"/>
          </a:xfrm>
          <a:prstGeom prst="rect">
            <a:avLst/>
          </a:prstGeom>
          <a:solidFill>
            <a:srgbClr val="1E4FD8"/>
          </a:solidFill>
          <a:ln w="12700">
            <a:solidFill>
              <a:srgbClr val="1E4FD8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64992" y="1243584"/>
            <a:ext cx="384048" cy="38404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822192" y="1216152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162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WBS</a:t>
            </a:r>
            <a:endParaRPr lang="en-US" sz="1200" dirty="0"/>
          </a:p>
        </p:txBody>
      </p:sp>
      <p:sp>
        <p:nvSpPr>
          <p:cNvPr id="14" name="Text 10"/>
          <p:cNvSpPr/>
          <p:nvPr/>
        </p:nvSpPr>
        <p:spPr>
          <a:xfrm>
            <a:off x="3822192" y="1536192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 Epics → 87 Stories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Leaf nodes tracked in Jira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Full traceability</a:t>
            </a:r>
            <a:endParaRPr lang="en-US" sz="1050" dirty="0"/>
          </a:p>
        </p:txBody>
      </p:sp>
      <p:sp>
        <p:nvSpPr>
          <p:cNvPr id="15" name="Shape 11"/>
          <p:cNvSpPr/>
          <p:nvPr/>
        </p:nvSpPr>
        <p:spPr>
          <a:xfrm>
            <a:off x="6144768" y="1078992"/>
            <a:ext cx="2743200" cy="1737360"/>
          </a:xfrm>
          <a:prstGeom prst="rect">
            <a:avLst/>
          </a:prstGeom>
          <a:solidFill>
            <a:srgbClr val="FFFFFF"/>
          </a:solidFill>
          <a:ln w="10160">
            <a:solidFill>
              <a:srgbClr val="D1DCE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6144768" y="1078992"/>
            <a:ext cx="73152" cy="1737360"/>
          </a:xfrm>
          <a:prstGeom prst="rect">
            <a:avLst/>
          </a:prstGeom>
          <a:solidFill>
            <a:srgbClr val="1E4FD8"/>
          </a:solidFill>
          <a:ln w="12700">
            <a:solidFill>
              <a:srgbClr val="1E4FD8"/>
            </a:solidFill>
            <a:prstDash val="solid"/>
          </a:ln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0" y="1243584"/>
            <a:ext cx="384048" cy="384048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766560" y="1216152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162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Change Control</a:t>
            </a:r>
            <a:endParaRPr lang="en-US" sz="1200" dirty="0"/>
          </a:p>
        </p:txBody>
      </p:sp>
      <p:sp>
        <p:nvSpPr>
          <p:cNvPr id="19" name="Text 14"/>
          <p:cNvSpPr/>
          <p:nvPr/>
        </p:nvSpPr>
        <p:spPr>
          <a:xfrm>
            <a:off x="6766560" y="1536192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Formal Jira CR process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Team sign-off required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Scope freeze mid-sprint</a:t>
            </a:r>
            <a:endParaRPr lang="en-US" sz="1050" dirty="0"/>
          </a:p>
        </p:txBody>
      </p:sp>
      <p:sp>
        <p:nvSpPr>
          <p:cNvPr id="20" name="Shape 15"/>
          <p:cNvSpPr/>
          <p:nvPr/>
        </p:nvSpPr>
        <p:spPr>
          <a:xfrm>
            <a:off x="256032" y="3017520"/>
            <a:ext cx="2743200" cy="1737360"/>
          </a:xfrm>
          <a:prstGeom prst="rect">
            <a:avLst/>
          </a:prstGeom>
          <a:solidFill>
            <a:srgbClr val="FFFFFF"/>
          </a:solidFill>
          <a:ln w="10160">
            <a:solidFill>
              <a:srgbClr val="D1DCE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256032" y="3017520"/>
            <a:ext cx="73152" cy="1737360"/>
          </a:xfrm>
          <a:prstGeom prst="rect">
            <a:avLst/>
          </a:prstGeom>
          <a:solidFill>
            <a:srgbClr val="1E4FD8"/>
          </a:solidFill>
          <a:ln w="12700">
            <a:solidFill>
              <a:srgbClr val="1E4FD8"/>
            </a:solidFill>
            <a:prstDash val="solid"/>
          </a:ln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0624" y="3182112"/>
            <a:ext cx="384048" cy="384048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877824" y="315468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162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Critical Path (CPM)</a:t>
            </a:r>
            <a:endParaRPr lang="en-US" sz="1200" dirty="0"/>
          </a:p>
        </p:txBody>
      </p:sp>
      <p:sp>
        <p:nvSpPr>
          <p:cNvPr id="24" name="Text 18"/>
          <p:cNvSpPr/>
          <p:nvPr/>
        </p:nvSpPr>
        <p:spPr>
          <a:xfrm>
            <a:off x="877824" y="347472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AI Integration = zero float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Front-loaded ML dev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Buffer at Sprint 10</a:t>
            </a:r>
            <a:endParaRPr lang="en-US" sz="1050" dirty="0"/>
          </a:p>
        </p:txBody>
      </p:sp>
      <p:sp>
        <p:nvSpPr>
          <p:cNvPr id="25" name="Shape 19"/>
          <p:cNvSpPr/>
          <p:nvPr/>
        </p:nvSpPr>
        <p:spPr>
          <a:xfrm>
            <a:off x="3200400" y="3017520"/>
            <a:ext cx="2743200" cy="1737360"/>
          </a:xfrm>
          <a:prstGeom prst="rect">
            <a:avLst/>
          </a:prstGeom>
          <a:solidFill>
            <a:srgbClr val="FFFFFF"/>
          </a:solidFill>
          <a:ln w="10160">
            <a:solidFill>
              <a:srgbClr val="D1DCE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6" name="Shape 20"/>
          <p:cNvSpPr/>
          <p:nvPr/>
        </p:nvSpPr>
        <p:spPr>
          <a:xfrm>
            <a:off x="3200400" y="3017520"/>
            <a:ext cx="73152" cy="1737360"/>
          </a:xfrm>
          <a:prstGeom prst="rect">
            <a:avLst/>
          </a:prstGeom>
          <a:solidFill>
            <a:srgbClr val="1E4FD8"/>
          </a:solidFill>
          <a:ln w="12700">
            <a:solidFill>
              <a:srgbClr val="1E4FD8"/>
            </a:solidFill>
            <a:prstDash val="solid"/>
          </a:ln>
        </p:spPr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64992" y="3182112"/>
            <a:ext cx="384048" cy="384048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3822192" y="315468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162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Stakeholder Mgmt</a:t>
            </a:r>
            <a:endParaRPr lang="en-US" sz="1200" dirty="0"/>
          </a:p>
        </p:txBody>
      </p:sp>
      <p:sp>
        <p:nvSpPr>
          <p:cNvPr id="29" name="Text 22"/>
          <p:cNvSpPr/>
          <p:nvPr/>
        </p:nvSpPr>
        <p:spPr>
          <a:xfrm>
            <a:off x="3822192" y="347472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Instructor as PO-proxy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Bi-weekly sprint demos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Formal UAT in Wk 13-14</a:t>
            </a:r>
            <a:endParaRPr lang="en-US" sz="1050" dirty="0"/>
          </a:p>
        </p:txBody>
      </p:sp>
      <p:sp>
        <p:nvSpPr>
          <p:cNvPr id="30" name="Shape 23"/>
          <p:cNvSpPr/>
          <p:nvPr/>
        </p:nvSpPr>
        <p:spPr>
          <a:xfrm>
            <a:off x="6144768" y="3017520"/>
            <a:ext cx="2743200" cy="1737360"/>
          </a:xfrm>
          <a:prstGeom prst="rect">
            <a:avLst/>
          </a:prstGeom>
          <a:solidFill>
            <a:srgbClr val="FFFFFF"/>
          </a:solidFill>
          <a:ln w="10160">
            <a:solidFill>
              <a:srgbClr val="D1DCE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1" name="Shape 24"/>
          <p:cNvSpPr/>
          <p:nvPr/>
        </p:nvSpPr>
        <p:spPr>
          <a:xfrm>
            <a:off x="6144768" y="3017520"/>
            <a:ext cx="73152" cy="1737360"/>
          </a:xfrm>
          <a:prstGeom prst="rect">
            <a:avLst/>
          </a:prstGeom>
          <a:solidFill>
            <a:srgbClr val="1E4FD8"/>
          </a:solidFill>
          <a:ln w="12700">
            <a:solidFill>
              <a:srgbClr val="1E4FD8"/>
            </a:solidFill>
            <a:prstDash val="solid"/>
          </a:ln>
        </p:spPr>
      </p:sp>
      <p:pic>
        <p:nvPicPr>
          <p:cNvPr id="3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09360" y="3182112"/>
            <a:ext cx="384048" cy="384048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6766560" y="315468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162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Tech Debt Mgmt</a:t>
            </a:r>
            <a:endParaRPr lang="en-US" sz="1200" dirty="0"/>
          </a:p>
        </p:txBody>
      </p:sp>
      <p:sp>
        <p:nvSpPr>
          <p:cNvPr id="34" name="Text 26"/>
          <p:cNvSpPr/>
          <p:nvPr/>
        </p:nvSpPr>
        <p:spPr>
          <a:xfrm>
            <a:off x="6766560" y="347472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Tracked in Jira 'tech-debt'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Intentional + documented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Paid back in Sprint 7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Metrics &amp; Outcomes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603504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BFDB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8 Sprints Completed  ·  All 6 Quality Targets Met  ·  10 Success Criteria Achieved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74320" y="1078992"/>
            <a:ext cx="1572768" cy="1645920"/>
          </a:xfrm>
          <a:prstGeom prst="rect">
            <a:avLst/>
          </a:prstGeom>
          <a:solidFill>
            <a:srgbClr val="1A2D4A"/>
          </a:solidFill>
          <a:ln w="19050">
            <a:solidFill>
              <a:srgbClr val="0EA5B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20040" y="1170432"/>
            <a:ext cx="148132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0EA5B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87%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320040" y="1901952"/>
            <a:ext cx="148132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A8B8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AI Model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A8B8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Accuracy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1993392" y="1078992"/>
            <a:ext cx="1572768" cy="1645920"/>
          </a:xfrm>
          <a:prstGeom prst="rect">
            <a:avLst/>
          </a:prstGeom>
          <a:solidFill>
            <a:srgbClr val="1A2D4A"/>
          </a:solidFill>
          <a:ln w="1905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039112" y="1170432"/>
            <a:ext cx="148132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32</a:t>
            </a:r>
            <a:endParaRPr lang="en-US" sz="3400" dirty="0"/>
          </a:p>
        </p:txBody>
      </p:sp>
      <p:sp>
        <p:nvSpPr>
          <p:cNvPr id="10" name="Text 8"/>
          <p:cNvSpPr/>
          <p:nvPr/>
        </p:nvSpPr>
        <p:spPr>
          <a:xfrm>
            <a:off x="2039112" y="1901952"/>
            <a:ext cx="148132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A8B8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Story Points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A8B8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Per Sprint (avg)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712464" y="1078992"/>
            <a:ext cx="1572768" cy="1645920"/>
          </a:xfrm>
          <a:prstGeom prst="rect">
            <a:avLst/>
          </a:prstGeom>
          <a:solidFill>
            <a:srgbClr val="1A2D4A"/>
          </a:solidFill>
          <a:ln w="19050">
            <a:solidFill>
              <a:srgbClr val="10B98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758184" y="1170432"/>
            <a:ext cx="148132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0B98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81%</a:t>
            </a:r>
            <a:endParaRPr lang="en-US" sz="3400" dirty="0"/>
          </a:p>
        </p:txBody>
      </p:sp>
      <p:sp>
        <p:nvSpPr>
          <p:cNvPr id="13" name="Text 11"/>
          <p:cNvSpPr/>
          <p:nvPr/>
        </p:nvSpPr>
        <p:spPr>
          <a:xfrm>
            <a:off x="3758184" y="1901952"/>
            <a:ext cx="148132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A8B8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Code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A8B8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Coverage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5431536" y="1078992"/>
            <a:ext cx="1572768" cy="1645920"/>
          </a:xfrm>
          <a:prstGeom prst="rect">
            <a:avLst/>
          </a:prstGeom>
          <a:solidFill>
            <a:srgbClr val="1A2D4A"/>
          </a:solidFill>
          <a:ln w="19050">
            <a:solidFill>
              <a:srgbClr val="1E4F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5477256" y="1170432"/>
            <a:ext cx="148132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E4F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99.7%</a:t>
            </a:r>
            <a:endParaRPr lang="en-US" sz="3400" dirty="0"/>
          </a:p>
        </p:txBody>
      </p:sp>
      <p:sp>
        <p:nvSpPr>
          <p:cNvPr id="16" name="Text 14"/>
          <p:cNvSpPr/>
          <p:nvPr/>
        </p:nvSpPr>
        <p:spPr>
          <a:xfrm>
            <a:off x="5477256" y="1901952"/>
            <a:ext cx="148132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A8B8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System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A8B8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Uptime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7150608" y="1078992"/>
            <a:ext cx="1572768" cy="1645920"/>
          </a:xfrm>
          <a:prstGeom prst="rect">
            <a:avLst/>
          </a:prstGeom>
          <a:solidFill>
            <a:srgbClr val="1A2D4A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7196328" y="1170432"/>
            <a:ext cx="148132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7C3AE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145ms</a:t>
            </a:r>
            <a:endParaRPr lang="en-US" sz="3400" dirty="0"/>
          </a:p>
        </p:txBody>
      </p:sp>
      <p:sp>
        <p:nvSpPr>
          <p:cNvPr id="19" name="Text 17"/>
          <p:cNvSpPr/>
          <p:nvPr/>
        </p:nvSpPr>
        <p:spPr>
          <a:xfrm>
            <a:off x="7196328" y="1901952"/>
            <a:ext cx="148132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A8B8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API Response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A8B8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Time (avg)</a:t>
            </a:r>
            <a:endParaRPr lang="en-US" sz="950" dirty="0"/>
          </a:p>
        </p:txBody>
      </p:sp>
      <p:pic>
        <p:nvPicPr>
          <p:cNvPr id="2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2980944"/>
            <a:ext cx="219456" cy="219456"/>
          </a:xfrm>
          <a:prstGeom prst="rect">
            <a:avLst/>
          </a:prstGeom>
        </p:spPr>
      </p:pic>
      <p:sp>
        <p:nvSpPr>
          <p:cNvPr id="21" name="Text 18"/>
          <p:cNvSpPr/>
          <p:nvPr/>
        </p:nvSpPr>
        <p:spPr>
          <a:xfrm>
            <a:off x="566928" y="2944368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D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Full-stack web app deployed publicly</a:t>
            </a:r>
            <a:endParaRPr lang="en-US" sz="1100" dirty="0"/>
          </a:p>
        </p:txBody>
      </p:sp>
      <p:pic>
        <p:nvPicPr>
          <p:cNvPr id="2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09160" y="2980944"/>
            <a:ext cx="219456" cy="219456"/>
          </a:xfrm>
          <a:prstGeom prst="rect">
            <a:avLst/>
          </a:prstGeom>
        </p:spPr>
      </p:pic>
      <p:sp>
        <p:nvSpPr>
          <p:cNvPr id="23" name="Text 19"/>
          <p:cNvSpPr/>
          <p:nvPr/>
        </p:nvSpPr>
        <p:spPr>
          <a:xfrm>
            <a:off x="5001768" y="2944368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D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SRS + SDD + API docs (Swagger)</a:t>
            </a:r>
            <a:endParaRPr lang="en-US" sz="1100" dirty="0"/>
          </a:p>
        </p:txBody>
      </p:sp>
      <p:pic>
        <p:nvPicPr>
          <p:cNvPr id="2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3401568"/>
            <a:ext cx="219456" cy="219456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566928" y="3364992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D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Trained ML models with benchmarks</a:t>
            </a:r>
            <a:endParaRPr lang="en-US" sz="1100" dirty="0"/>
          </a:p>
        </p:txBody>
      </p:sp>
      <p:pic>
        <p:nvPicPr>
          <p:cNvPr id="2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09160" y="3401568"/>
            <a:ext cx="219456" cy="219456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5001768" y="3364992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D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Docker containerisation all services</a:t>
            </a:r>
            <a:endParaRPr lang="en-US" sz="1100" dirty="0"/>
          </a:p>
        </p:txBody>
      </p:sp>
      <p:pic>
        <p:nvPicPr>
          <p:cNvPr id="2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4320" y="3822192"/>
            <a:ext cx="219456" cy="219456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566928" y="3785616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D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Automated CI/CD via GitHub Actions</a:t>
            </a:r>
            <a:endParaRPr lang="en-US" sz="1100" dirty="0"/>
          </a:p>
        </p:txBody>
      </p:sp>
      <p:pic>
        <p:nvPicPr>
          <p:cNvPr id="3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09160" y="3822192"/>
            <a:ext cx="219456" cy="219456"/>
          </a:xfrm>
          <a:prstGeom prst="rect">
            <a:avLst/>
          </a:prstGeom>
        </p:spPr>
      </p:pic>
      <p:sp>
        <p:nvSpPr>
          <p:cNvPr id="31" name="Text 23"/>
          <p:cNvSpPr/>
          <p:nvPr/>
        </p:nvSpPr>
        <p:spPr>
          <a:xfrm>
            <a:off x="5001768" y="3785616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D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8 sprint reports + meeting minutes</a:t>
            </a:r>
            <a:endParaRPr lang="en-US" sz="1100" dirty="0"/>
          </a:p>
        </p:txBody>
      </p:sp>
      <p:pic>
        <p:nvPicPr>
          <p:cNvPr id="32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74320" y="4242816"/>
            <a:ext cx="219456" cy="219456"/>
          </a:xfrm>
          <a:prstGeom prst="rect">
            <a:avLst/>
          </a:prstGeom>
        </p:spPr>
      </p:pic>
      <p:sp>
        <p:nvSpPr>
          <p:cNvPr id="33" name="Text 24"/>
          <p:cNvSpPr/>
          <p:nvPr/>
        </p:nvSpPr>
        <p:spPr>
          <a:xfrm>
            <a:off x="566928" y="4206240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D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UAT with 82% satisfaction score</a:t>
            </a:r>
            <a:endParaRPr lang="en-US" sz="1100" dirty="0"/>
          </a:p>
        </p:txBody>
      </p:sp>
      <p:pic>
        <p:nvPicPr>
          <p:cNvPr id="34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709160" y="4242816"/>
            <a:ext cx="219456" cy="219456"/>
          </a:xfrm>
          <a:prstGeom prst="rect">
            <a:avLst/>
          </a:prstGeom>
        </p:spPr>
      </p:pic>
      <p:sp>
        <p:nvSpPr>
          <p:cNvPr id="35" name="Text 25"/>
          <p:cNvSpPr/>
          <p:nvPr/>
        </p:nvSpPr>
        <p:spPr>
          <a:xfrm>
            <a:off x="5001768" y="4206240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D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Risk register with all items resolved</a:t>
            </a:r>
            <a:endParaRPr lang="en-US" sz="1100" dirty="0"/>
          </a:p>
        </p:txBody>
      </p:sp>
      <p:pic>
        <p:nvPicPr>
          <p:cNvPr id="36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74320" y="4663440"/>
            <a:ext cx="219456" cy="219456"/>
          </a:xfrm>
          <a:prstGeom prst="rect">
            <a:avLst/>
          </a:prstGeom>
        </p:spPr>
      </p:pic>
      <p:sp>
        <p:nvSpPr>
          <p:cNvPr id="37" name="Text 26"/>
          <p:cNvSpPr/>
          <p:nvPr/>
        </p:nvSpPr>
        <p:spPr>
          <a:xfrm>
            <a:off x="566928" y="4626864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D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16-week timeline fully on schedule</a:t>
            </a:r>
            <a:endParaRPr lang="en-US" sz="1100" dirty="0"/>
          </a:p>
        </p:txBody>
      </p:sp>
      <p:pic>
        <p:nvPicPr>
          <p:cNvPr id="38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709160" y="4663440"/>
            <a:ext cx="219456" cy="219456"/>
          </a:xfrm>
          <a:prstGeom prst="rect">
            <a:avLst/>
          </a:prstGeom>
        </p:spPr>
      </p:pic>
      <p:sp>
        <p:nvSpPr>
          <p:cNvPr id="39" name="Text 27"/>
          <p:cNvSpPr/>
          <p:nvPr/>
        </p:nvSpPr>
        <p:spPr>
          <a:xfrm>
            <a:off x="5001768" y="4626864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D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Live demo delivered to stakeholders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Lessons Learned &amp; Conclusion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603504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CFFA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Retrospective Insights  ·  SPM Value Delivered  ·  Portfolio Achievement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56032" y="1051560"/>
            <a:ext cx="8631936" cy="658368"/>
          </a:xfrm>
          <a:prstGeom prst="rect">
            <a:avLst/>
          </a:prstGeom>
          <a:solidFill>
            <a:srgbClr val="1A2D4A"/>
          </a:solidFill>
          <a:ln w="6350">
            <a:solidFill>
              <a:srgbClr val="2D4A7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56032" y="1051560"/>
            <a:ext cx="502920" cy="65836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1234440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68680" y="1124712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A5B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Invest in tooling early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68680" y="1380744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8B8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CI/CD + Jira in Week 2 paid dividends every single sprint — reduced integration bugs by 60%.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256032" y="1819656"/>
            <a:ext cx="8631936" cy="658368"/>
          </a:xfrm>
          <a:prstGeom prst="rect">
            <a:avLst/>
          </a:prstGeom>
          <a:solidFill>
            <a:srgbClr val="1A2D4A"/>
          </a:solidFill>
          <a:ln w="6350">
            <a:solidFill>
              <a:srgbClr val="2D4A7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56032" y="1819656"/>
            <a:ext cx="502920" cy="65836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74320" y="2002536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68680" y="1892808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A5B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Definitions create alignment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868680" y="214884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8B8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Definition of Done, acceptance criteria, and coding standards prevented more conflict than any team-building.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256032" y="2587752"/>
            <a:ext cx="8631936" cy="658368"/>
          </a:xfrm>
          <a:prstGeom prst="rect">
            <a:avLst/>
          </a:prstGeom>
          <a:solidFill>
            <a:srgbClr val="1A2D4A"/>
          </a:solidFill>
          <a:ln w="6350">
            <a:solidFill>
              <a:srgbClr val="2D4A7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56032" y="2587752"/>
            <a:ext cx="502920" cy="65836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74320" y="277063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03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68680" y="2660904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A5B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Retrospectives drive improvement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868680" y="2916936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8B8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Every measurable improvement traces back to a retrospective action item. Velocity grew 28 → 36 SP/sprint.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256032" y="3355848"/>
            <a:ext cx="8631936" cy="658368"/>
          </a:xfrm>
          <a:prstGeom prst="rect">
            <a:avLst/>
          </a:prstGeom>
          <a:solidFill>
            <a:srgbClr val="1A2D4A"/>
          </a:solidFill>
          <a:ln w="6350">
            <a:solidFill>
              <a:srgbClr val="2D4A7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56032" y="3355848"/>
            <a:ext cx="502920" cy="65836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74320" y="3538728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04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868680" y="3429000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A5B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Risk management is proactive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868680" y="3685032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8B8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Documented risks didn't materialise. Undocumented ones caught us off guard. The register proved its value.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256032" y="4123944"/>
            <a:ext cx="8631936" cy="658368"/>
          </a:xfrm>
          <a:prstGeom prst="rect">
            <a:avLst/>
          </a:prstGeom>
          <a:solidFill>
            <a:srgbClr val="1A2D4A"/>
          </a:solidFill>
          <a:ln w="6350">
            <a:solidFill>
              <a:srgbClr val="2D4A7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56032" y="4123944"/>
            <a:ext cx="502920" cy="65836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74320" y="4306824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05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868680" y="4197096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A5B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Documentation is a team asset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868680" y="4453128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8B8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Clear Jira stories and PR descriptions reduced cognitive load for the whole team and enabled full traceability.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256032" y="4873752"/>
            <a:ext cx="8631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B7A9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SmartHealth AI Assistant demonstrates that rigorous SPM practices—Agile Scrum, Jira, GitHub, risk management, and quality frameworks—deliver measurable outcomes within constrained academic timelines.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SmartHealth AI Assistant — SPM Presentation</dc:title>
  <dc:subject>PptxGenJS Presentation</dc:subject>
  <dc:creator>Saad Abrar, Umair Nawaz, Hamza Khurram</dc:creator>
  <cp:lastModifiedBy>Saad Abrar, Umair Nawaz, Hamza Khurram</cp:lastModifiedBy>
  <cp:revision>1</cp:revision>
  <dcterms:created xsi:type="dcterms:W3CDTF">2026-05-12T03:14:21Z</dcterms:created>
  <dcterms:modified xsi:type="dcterms:W3CDTF">2026-05-12T03:14:21Z</dcterms:modified>
</cp:coreProperties>
</file>